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6812f964a24baf" /><Relationship Type="http://schemas.openxmlformats.org/officeDocument/2006/relationships/extended-properties" Target="/docProps/app.xml" Id="R80aef952b75b45b2" /><Relationship Type="http://schemas.openxmlformats.org/officeDocument/2006/relationships/officeDocument" Target="/ppt/presentation.xml" Id="R2b91f2bf020d4615" /></Relationships>
</file>

<file path=ppt/presentation.xml><?xml version="1.0" encoding="utf-8"?>
<p:presentation xmlns:p="http://schemas.openxmlformats.org/presentationml/2006/main">
  <p:sldMasterIdLst>
    <p:sldMasterId xmlns:r="http://schemas.openxmlformats.org/officeDocument/2006/relationships" id="2147483648" r:id="R6fc9b82d86314698"/>
  </p:sldMasterIdLst>
  <p:notesMasterIdLst>
    <p:notesMasterId xmlns:r="http://schemas.openxmlformats.org/officeDocument/2006/relationships" r:id="Rf8b7e0f2f41a4e4c"/>
  </p:notesMasterIdLst>
  <p:sldIdLst>
    <p:sldId xmlns:r="http://schemas.openxmlformats.org/officeDocument/2006/relationships" id="256" r:id="R2508c63ce85149ff"/>
    <p:sldId xmlns:r="http://schemas.openxmlformats.org/officeDocument/2006/relationships" id="257" r:id="Rdedbf897e2f845c6"/>
    <p:sldId xmlns:r="http://schemas.openxmlformats.org/officeDocument/2006/relationships" id="258" r:id="R11d7f35c7bae436e"/>
    <p:sldId xmlns:r="http://schemas.openxmlformats.org/officeDocument/2006/relationships" id="259" r:id="Rf06396389be649b0"/>
    <p:sldId xmlns:r="http://schemas.openxmlformats.org/officeDocument/2006/relationships" id="260" r:id="Racb9f1c3a1c34e7e"/>
    <p:sldId xmlns:r="http://schemas.openxmlformats.org/officeDocument/2006/relationships" id="261" r:id="R31d711ab6feb4557"/>
    <p:sldId xmlns:r="http://schemas.openxmlformats.org/officeDocument/2006/relationships" id="262" r:id="R9f88c187b2a349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930695e5704949" /><Relationship Type="http://schemas.openxmlformats.org/officeDocument/2006/relationships/slideMaster" Target="/ppt/slideMasters/slideMaster1.xml" Id="R6fc9b82d86314698" /><Relationship Type="http://schemas.openxmlformats.org/officeDocument/2006/relationships/notesMaster" Target="/ppt/notesMasters/notesMaster1.xml" Id="Rf8b7e0f2f41a4e4c" /><Relationship Type="http://schemas.openxmlformats.org/officeDocument/2006/relationships/presProps" Target="/ppt/presProps.xml" Id="R6fbfff0276d444ff" /><Relationship Type="http://schemas.openxmlformats.org/officeDocument/2006/relationships/tableStyles" Target="/ppt/tableStyles.xml" Id="Ra14bd4a6fa5c4dd5" /><Relationship Type="http://schemas.openxmlformats.org/officeDocument/2006/relationships/slide" Target="/ppt/slides/slide1.xml" Id="R2508c63ce85149ff" /><Relationship Type="http://schemas.openxmlformats.org/officeDocument/2006/relationships/slide" Target="/ppt/slides/slide2.xml" Id="Rdedbf897e2f845c6" /><Relationship Type="http://schemas.openxmlformats.org/officeDocument/2006/relationships/slide" Target="/ppt/slides/slide3.xml" Id="R11d7f35c7bae436e" /><Relationship Type="http://schemas.openxmlformats.org/officeDocument/2006/relationships/slide" Target="/ppt/slides/slide4.xml" Id="Rf06396389be649b0" /><Relationship Type="http://schemas.openxmlformats.org/officeDocument/2006/relationships/slide" Target="/ppt/slides/slide5.xml" Id="Racb9f1c3a1c34e7e" /><Relationship Type="http://schemas.openxmlformats.org/officeDocument/2006/relationships/slide" Target="/ppt/slides/slide6.xml" Id="R31d711ab6feb4557" /><Relationship Type="http://schemas.openxmlformats.org/officeDocument/2006/relationships/slide" Target="/ppt/slides/slide7.xml" Id="R9f88c187b2a349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c111bf4bc949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a172a2223f4d31" /><Relationship Type="http://schemas.openxmlformats.org/officeDocument/2006/relationships/notesMaster" Target="/ppt/notesMasters/notesMaster1.xml" Id="Rf7ccc3c67b7f49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5644cee4694fd2" /><Relationship Type="http://schemas.openxmlformats.org/officeDocument/2006/relationships/notesMaster" Target="/ppt/notesMasters/notesMaster1.xml" Id="Rfffa1d466f0e4a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b526d25fe54976" /><Relationship Type="http://schemas.openxmlformats.org/officeDocument/2006/relationships/notesMaster" Target="/ppt/notesMasters/notesMaster1.xml" Id="R9139a1b66e044e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1bd090e09c489d" /><Relationship Type="http://schemas.openxmlformats.org/officeDocument/2006/relationships/notesMaster" Target="/ppt/notesMasters/notesMaster1.xml" Id="Rf40db97167fd41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afdb852840465f" /><Relationship Type="http://schemas.openxmlformats.org/officeDocument/2006/relationships/notesMaster" Target="/ppt/notesMasters/notesMaster1.xml" Id="Ra1545dc3bc5541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4fad65400641b6" /><Relationship Type="http://schemas.openxmlformats.org/officeDocument/2006/relationships/notesMaster" Target="/ppt/notesMasters/notesMaster1.xml" Id="Rf0d366294d0844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bf58ec1cc14450" /><Relationship Type="http://schemas.openxmlformats.org/officeDocument/2006/relationships/notesMaster" Target="/ppt/notesMasters/notesMaster1.xml" Id="Rd6544252416346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supplier needs working capital. A lender can provide it. XRPL already gives us the native lending machinery. Recognitium connects the agreement the people approved to the transaction the ledger confirms.</a:t>
            </a:r>
          </a:p>
          <a:p xmlns:a="http://schemas.openxmlformats.org/drawingml/2006/main">
            <a:r>
              <a:t/>
            </a:r>
          </a:p>
          <a:p xmlns:a="http://schemas.openxmlformats.org/drawingml/2006/main">
            <a:r>
              <a:t>This hackathon integration uses a pre-existing classical Recognitium service and AI-assisted development. No QCP hardware claim. Source: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has three perspectives: Lender, Borrower and Admin. A lender declares availability, a borrower states a need, and the application proposes a match. Both demo roles approve that exact match before the administrator reviews it. The subsequent loan offer needs separate borrower and broker approval. An observed wallet balance does not reserve funds.</a:t>
            </a:r>
          </a:p>
          <a:p xmlns:a="http://schemas.openxmlformats.org/drawingml/2006/main">
            <a:r>
              <a:t/>
            </a:r>
          </a:p>
          <a:p xmlns:a="http://schemas.openxmlformats.org/drawingml/2006/main">
            <a:r>
              <a:t>The match flow has a real Recognitium receipt. The fresh matched native cycle remains pending. The existing completed native loans predate that matching extension. Sources: https://github.com/jninom8/recognitium-xrpl-hackathon/blob/main/evidence/matching-131184ce.json and https://github.com/jninom8/recognitium-xrpl-hackathon/blob/main/docs/BACKEND_REVIEW.md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receipt history has a different job from the XRP Ledger. Documents and negotiation records remain outside the public ledger. Recognitium records commitments in its authority history. Our broker verifies an agreement receipt and both people approve the exact terms before the demo wallets co-sign LoanSet. The LoanSet Data field carries the agreement fingerprint.</a:t>
            </a:r>
          </a:p>
          <a:p xmlns:a="http://schemas.openxmlformats.org/drawingml/2006/main">
            <a:r>
              <a:t/>
            </a:r>
          </a:p>
          <a:p xmlns:a="http://schemas.openxmlformats.org/drawingml/2006/main">
            <a:r>
              <a:t>XRPL does not read the Recognitium receipt. Its validators enforce signatures and protocol rules. An execution receipt later links the agreement to the validated transfer. The separate history is a classical evidence service, not another decentralized XRPL consensus network. Every transition can have an evidence record, but this build has not sealed every transition.</a:t>
            </a:r>
          </a:p>
          <a:p xmlns:a="http://schemas.openxmlformats.org/drawingml/2006/main">
            <a:r>
              <a:t/>
            </a:r>
          </a:p>
          <a:p xmlns:a="http://schemas.openxmlformats.org/drawingml/2006/main">
            <a:r>
              <a:t>IVM discovery and receipt issuance are operator-assisted; browser AI drafts requests. The diagram shows the integration boundary, not autonomous AI execution. Sources: https://github.com/jninom8/recognitium-xrpl-hackathon/blob/main/src/xrpl/transactions.ts , https://github.com/jninom8/recognitium-xrpl-hackathon/blob/main/src/requests/service.ts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https://recognitium-xrpl-hackathon.vercel.app/borrow?mode=live&amp;request=request-1708833c-9d9e-4a49-9fe2-6b9284842ecc</a:t>
            </a:r>
          </a:p>
          <a:p xmlns:a="http://schemas.openxmlformats.org/drawingml/2006/main">
            <a:r>
              <a:t/>
            </a:r>
          </a:p>
          <a:p xmlns:a="http://schemas.openxmlformats.org/drawingml/2006/main">
            <a:r>
              <a:t>Say: This is a completed development-network run, not a new transfer happening as I click. Show Transactions &amp; evidence: vault 90024, deposit 90026, broker 90028, cover 90030, funding 90068, repayment 90086 and withdrawal 90092. Then show the native refusal and the agreement and execution receipts. The lender deposited 200 XRP, withdrew 200.000020 XRP and paid a 12-drop withdrawal fee. Twenty drops is gross yield, not net profit after all setup and network fees.</a:t>
            </a:r>
          </a:p>
          <a:p xmlns:a="http://schemas.openxmlformats.org/drawingml/2006/main">
            <a:r>
              <a:t/>
            </a:r>
          </a:p>
          <a:p xmlns:a="http://schemas.openxmlformats.org/drawingml/2006/main">
            <a:r>
              <a:t>For the off-chain match receipt, open Receipts and round 131184CE. That match expired before native execution. Identity preview is synthetic and unsealed. The current V1-only application policy blocks new loans on the advertised V1.1 endpoint; do not promise a fresh live loan during this walkthrough.</a:t>
            </a:r>
          </a:p>
          <a:p xmlns:a="http://schemas.openxmlformats.org/drawingml/2006/main">
            <a:r>
              <a:t/>
            </a:r>
          </a:p>
          <a:p xmlns:a="http://schemas.openxmlformats.org/drawingml/2006/main">
            <a:r>
              <a:t>Funding hash: CABC51612A0478F935D0C82DF3102124FC2DDC7E7CAACD665BCF37FD836F08FD</a:t>
            </a:r>
          </a:p>
          <a:p xmlns:a="http://schemas.openxmlformats.org/drawingml/2006/main">
            <a:r>
              <a:t>Agreement receipt: DG-e2d41354140a451c855050f148b55da1</a:t>
            </a:r>
          </a:p>
          <a:p xmlns:a="http://schemas.openxmlformats.org/drawingml/2006/main">
            <a:r>
              <a:t>Execution receipt: DG-67bd66978e854f4e8d79d21862723ee4</a:t>
            </a:r>
          </a:p>
          <a:p xmlns:a="http://schemas.openxmlformats.org/drawingml/2006/main">
            <a:r>
              <a:t>Sources: https://github.com/jninom8/recognitium-xrpl-hackathon/blob/main/evidence/ai-request-1708833c.json and https://github.com/jninom8/recognitium-xrpl-hackathon/blob/main/docs/STATUS.md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can prepare structured terms, compare the request with availability and carry the commitment between tools. Local hashing detects changed bytes without sending the private document to XRPL. We preserve the human approval boundary because a loan signature creates an obligation.</a:t>
            </a:r>
          </a:p>
          <a:p xmlns:a="http://schemas.openxmlformats.org/drawingml/2006/main">
            <a:r>
              <a:t/>
            </a:r>
          </a:p>
          <a:p xmlns:a="http://schemas.openxmlformats.org/drawingml/2006/main">
            <a:r>
              <a:t>The benefit is separation of responsibilities: the public ledger does not need every negotiation message or identity file. This does not increase XRPL throughput, eliminate verification latency or make receipts prove identity truth. We have not measured a milliseconds-per-receipt performance claim. Verification of Recognitium authority still requires its online record in this build.</a:t>
            </a:r>
          </a:p>
          <a:p xmlns:a="http://schemas.openxmlformats.org/drawingml/2006/main">
            <a:r>
              <a:t/>
            </a:r>
          </a:p>
          <a:p xmlns:a="http://schemas.openxmlformats.org/drawingml/2006/main">
            <a:r>
              <a:t>New native preparation includes a synthetic request-wallet identity commitment. It is not real KYC and no completed native run yet contains this addition. Sources: https://github.com/jninom8/recognitium-xrpl-hackathon/blob/main/src/shared/identity-fixture.ts , https://github.com/jninom8/recognitium-xrpl-hackathon/blob/main/src/server/assistant.ts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limited tests did not identify a break in XRPL cryptography. We did not conduct an independent cryptographic or security audit. We do not claim that quantum computing is the only remaining risk, or that key protection alone makes an application secure. The observed friction concerns integration, coordination and state recovery.</a:t>
            </a:r>
          </a:p>
          <a:p xmlns:a="http://schemas.openxmlformats.org/drawingml/2006/main">
            <a:r>
              <a:t/>
            </a:r>
          </a:p>
          <a:p xmlns:a="http://schemas.openxmlformats.org/drawingml/2006/main">
            <a:r>
              <a:t>First, the event endpoint ports repeatedly timed out while ordinary HTTPS worked. A phone hotspot restored access. That isolates a network-path difference, not a proven diagnosis of congestion or firewall policy. Proposal: provide an HTTP/WebSocket connectivity probe and known-good expected response before faucet setup.</a:t>
            </a:r>
          </a:p>
          <a:p xmlns:a="http://schemas.openxmlformats.org/drawingml/2006/main">
            <a:r>
              <a:t/>
            </a:r>
          </a:p>
          <a:p xmlns:a="http://schemas.openxmlformats.org/drawingml/2006/main">
            <a:r>
              <a:t>Second, the advertised Track 1 endpoint reported LendingProtocolV1_1 enabled, while the closed-ended guide restricts new lending. Earlier mentor-guided open-ended cycles succeeded. We preserve those observations and now gate new origination under the founder's V1-only rule. Proposal: publish a versioned endpoint, enabled amendment list and compatible SDK matrix with the event track.</a:t>
            </a:r>
          </a:p>
          <a:p xmlns:a="http://schemas.openxmlformats.org/drawingml/2006/main">
            <a:r>
              <a:t/>
            </a:r>
          </a:p>
          <a:p xmlns:a="http://schemas.openxmlformats.org/drawingml/2006/main">
            <a:r>
              <a:t>Third, our Vercel build succeeded but API startup failed with ERR_REQUIRE_ESM involving @xrplf/isomorphic and @noble/hashes. We removed unnecessary XRPL SDK imports from hosted receipt/address code and added a startup regression check. This was our integration failure, not a protocol bug. Proposal: include a serverless smoke test and minimal SDK-free hashing example.</a:t>
            </a:r>
          </a:p>
          <a:p xmlns:a="http://schemas.openxmlformats.org/drawingml/2006/main">
            <a:r>
              <a:t/>
            </a:r>
          </a:p>
          <a:p xmlns:a="http://schemas.openxmlformats.org/drawingml/2006/main">
            <a:r>
              <a:t>Project hook delivery includes historical automatic events and explicitly submitted reflections. Automatic capture in this projectless task is unconfirmed. The participant-written manual report is a separate mandatory deliverable; these slides do not replace it. Sources: https://github.com/jninom8/recognitium-xrpl-hackathon/blob/main/DEVEX_LOG.md , https://github.com/jninom8/recognitium-xrpl-hackathon/blob/main/docs/DEVELOPER_JOURNEY.md , https://github.com/jninom8/recognitium-xrpl-hackathon/blob/main/evidence/environment-2026-09-13.json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every XLS-65/66 builder to be able to connect a private commitment to a native loan without rebuilding the evidence and recovery layer. Our public repository contains the adapter and repeatable verification examples. This is our proposed missing developer tool, not a claim that no other evidence system exists.</a:t>
            </a:r>
          </a:p>
          <a:p xmlns:a="http://schemas.openxmlformats.org/drawingml/2006/main">
            <a:r>
              <a:t/>
            </a:r>
          </a:p>
          <a:p xmlns:a="http://schemas.openxmlformats.org/drawingml/2006/main">
            <a:r>
              <a:t>The next proof is a fresh availability-matched loan with exact approvals, funding, repayment and return, once the environment issue is resolved. The longer-term direction is an agent-friendly interface with authenticated approval and a sealed record for every meaningful agreement transition. Today those are boundaries and next steps, not completed features.</a:t>
            </a:r>
          </a:p>
          <a:p xmlns:a="http://schemas.openxmlformats.org/drawingml/2006/main">
            <a:r>
              <a:t/>
            </a:r>
          </a:p>
          <a:p xmlns:a="http://schemas.openxmlformats.org/drawingml/2006/main">
            <a:r>
              <a:t>Sources: https://github.com/jninom8/recognitium-xrpl-hackathon/blob/main/src/requests/service.ts , https://github.com/jninom8/recognitium-xrpl-hackathon/blob/main/scripts/verify-bundle.ts , https://github.com/jninom8/recognitium-xrpl-hackathon/blob/main/docs/NATIVE_BRIDGE.md</a:t>
            </a:r>
          </a:p>
          <a:p xmlns:a="http://schemas.openxmlformats.org/drawingml/2006/main">
            <a:r>
              <a:t/>
            </a:r>
          </a:p>
          <a:p xmlns:a="http://schemas.openxmlformats.org/drawingml/2006/main">
            <a:r>
              <a:t>Q&amp;A reminders: the current Recognitium engine is classical; a receipt is not KYC; a hash is not ledger validation; no measured XRPL throughput improvement; no identity documents on chain; existing synthetic fixtures stay labelled; no claim every transition already has a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d19a862da54c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8dd50ed5ad4a56" /><Relationship Type="http://schemas.openxmlformats.org/officeDocument/2006/relationships/slideLayout" Target="/ppt/slideLayouts/slideLayout1.xml" Id="R5bf4bf83dfc445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f4bf83dfc445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9299157af241f9" /><Relationship Type="http://schemas.openxmlformats.org/officeDocument/2006/relationships/notesSlide" Target="/ppt/notesSlides/notesSlide1.xml" Id="Rc8a822c88d2249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40df4fe67b42a2" /><Relationship Type="http://schemas.openxmlformats.org/officeDocument/2006/relationships/notesSlide" Target="/ppt/notesSlides/notesSlide2.xml" Id="R565e2d0f638c4f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3e3db3cb45435d" /><Relationship Type="http://schemas.openxmlformats.org/officeDocument/2006/relationships/notesSlide" Target="/ppt/notesSlides/notesSlide3.xml" Id="Rb9c63a5742a547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6059f1f70d4523" /><Relationship Type="http://schemas.openxmlformats.org/officeDocument/2006/relationships/notesSlide" Target="/ppt/notesSlides/notesSlide4.xml" Id="R0106e180b48449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880d75e0f64c0d" /><Relationship Type="http://schemas.openxmlformats.org/officeDocument/2006/relationships/notesSlide" Target="/ppt/notesSlides/notesSlide5.xml" Id="R7125b6ec16c946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cf138cc33f46e1" /><Relationship Type="http://schemas.openxmlformats.org/officeDocument/2006/relationships/notesSlide" Target="/ppt/notesSlides/notesSlide6.xml" Id="R12b5602fac1140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9a1a86d61848df" /><Relationship Type="http://schemas.openxmlformats.org/officeDocument/2006/relationships/notesSlide" Target="/ppt/notesSlides/notesSlide7.xml" Id="R5bc0464f72114c65" /></Relationships>
</file>

<file path=ppt/slides/slide1.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EF1D30-FB08-449B-B037-4FDFCB546416}"/>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5AA01841-660E-4FB3-8998-9D9FEE0E3621}"/>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08033AB5-9AF4-4F1E-9F5F-8091B58A2433}"/>
              </a:ext>
            </a:extLst>
          </p:cNvPr>
          <p:cNvSpPr>
            <a:spLocks xmlns:a="http://schemas.openxmlformats.org/drawingml/2006/main" noGrp="1"/>
          </p:cNvSpPr>
          <p:nvPr/>
        </p:nvSpPr>
        <p:spPr>
          <a:xfrm xmlns:a="http://schemas.openxmlformats.org/drawingml/2006/main">
            <a:off x="609600" y="1771650"/>
            <a:ext cx="1095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agreement has a history.</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payment has a ledger.</a:t>
            </a:r>
          </a:p>
        </p:txBody>
      </p:sp>
      <p:sp>
        <p:nvSpPr>
          <p:cNvPr id="4" name="">
            <a:extLst xmlns:a="http://schemas.openxmlformats.org/drawingml/2006/main">
              <a:ext uri="{FF2B5EF4-FFF2-40B4-BE49-F238E27FC236}">
                <a16:creationId xmlns:a16="http://schemas.microsoft.com/office/drawing/2014/main" id="{3E171FAF-754E-4F97-B5D7-678CB5624E95}"/>
              </a:ext>
            </a:extLst>
          </p:cNvPr>
          <p:cNvSpPr>
            <a:spLocks xmlns:a="http://schemas.openxmlformats.org/drawingml/2006/main" noGrp="1"/>
          </p:cNvSpPr>
          <p:nvPr/>
        </p:nvSpPr>
        <p:spPr>
          <a:xfrm xmlns:a="http://schemas.openxmlformats.org/drawingml/2006/main">
            <a:off x="609600" y="43148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ADE0C8"/>
                </a:solidFill>
                <a:latin typeface="Arial"/>
                <a:ea typeface="Arial"/>
                <a:cs typeface="Arial"/>
              </a:defRPr>
            </a:pPr>
            <a:r>
              <a:rPr sz="3150" b="0">
                <a:solidFill>
                  <a:srgbClr val="ADE0C8"/>
                </a:solidFill>
                <a:latin typeface="Arial"/>
                <a:ea typeface="Arial"/>
                <a:cs typeface="Arial"/>
              </a:rPr>
              <a:t>Recognitium connects them.</a:t>
            </a:r>
          </a:p>
        </p:txBody>
      </p:sp>
      <p:sp>
        <p:nvSpPr>
          <p:cNvPr id="5" name="">
            <a:extLst xmlns:a="http://schemas.openxmlformats.org/drawingml/2006/main">
              <a:ext uri="{FF2B5EF4-FFF2-40B4-BE49-F238E27FC236}">
                <a16:creationId xmlns:a16="http://schemas.microsoft.com/office/drawing/2014/main" id="{8373DA87-33A2-4A66-B414-D8612319E3AC}"/>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1E6DD"/>
                </a:solidFill>
                <a:latin typeface="Arial"/>
                <a:ea typeface="Arial"/>
                <a:cs typeface="Arial"/>
              </a:defRPr>
            </a:pPr>
            <a:r>
              <a:rPr sz="1800" b="0">
                <a:solidFill>
                  <a:srgbClr val="D1E6DD"/>
                </a:solidFill>
                <a:latin typeface="Arial"/>
                <a:ea typeface="Arial"/>
                <a:cs typeface="Arial"/>
              </a:rPr>
              <a:t>Track 1 Vanilla / XLS-65 vaults and shares / XLS-66 lending</a:t>
            </a:r>
          </a:p>
        </p:txBody>
      </p:sp>
    </p:spTree>
    <p:extLst>
      <p:ext uri="{BB962C8B-B14F-4D97-AF65-F5344CB8AC3E}">
        <p14:creationId xmlns:p14="http://schemas.microsoft.com/office/powerpoint/2010/main" val="1864120600"/>
      </p:ext>
    </p:extLst>
  </p:cSld>
</p:sld>
</file>

<file path=ppt/slides/slide2.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8AE786-986C-4263-990F-38DF131961A6}"/>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6F9E9B60-14D8-49C2-BCCA-C996CE5C83C5}"/>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64315E7-D648-4285-B627-336529ADCFE7}"/>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 loan starts before the money moves</a:t>
            </a:r>
          </a:p>
        </p:txBody>
      </p:sp>
      <p:sp>
        <p:nvSpPr>
          <p:cNvPr id="4" name="">
            <a:extLst xmlns:a="http://schemas.openxmlformats.org/drawingml/2006/main">
              <a:ext uri="{FF2B5EF4-FFF2-40B4-BE49-F238E27FC236}">
                <a16:creationId xmlns:a16="http://schemas.microsoft.com/office/drawing/2014/main" id="{CAE5D2AF-67A8-4B24-8C22-B5A88FFC4F8C}"/>
              </a:ext>
            </a:extLst>
          </p:cNvPr>
          <p:cNvSpPr>
            <a:spLocks xmlns:a="http://schemas.openxmlformats.org/drawingml/2006/main" noGrp="1"/>
          </p:cNvSpPr>
          <p:nvPr/>
        </p:nvSpPr>
        <p:spPr>
          <a:xfrm xmlns:a="http://schemas.openxmlformats.org/drawingml/2006/main">
            <a:off x="609600" y="2305050"/>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A supplier needs funding</a:t>
            </a:r>
          </a:p>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for its next order.</a:t>
            </a:r>
          </a:p>
        </p:txBody>
      </p:sp>
      <p:sp>
        <p:nvSpPr>
          <p:cNvPr id="5" name="">
            <a:extLst xmlns:a="http://schemas.openxmlformats.org/drawingml/2006/main">
              <a:ext uri="{FF2B5EF4-FFF2-40B4-BE49-F238E27FC236}">
                <a16:creationId xmlns:a16="http://schemas.microsoft.com/office/drawing/2014/main" id="{62B57175-6948-44DF-AD70-20D8DD632ACF}"/>
              </a:ext>
            </a:extLst>
          </p:cNvPr>
          <p:cNvSpPr>
            <a:spLocks xmlns:a="http://schemas.openxmlformats.org/drawingml/2006/main" noGrp="1"/>
          </p:cNvSpPr>
          <p:nvPr/>
        </p:nvSpPr>
        <p:spPr>
          <a:xfrm xmlns:a="http://schemas.openxmlformats.org/drawingml/2006/main">
            <a:off x="7086600" y="2324100"/>
            <a:ext cx="44005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 lender offers availability.</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Both approve a match.</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An admin reviews the evidence.</a:t>
            </a:r>
          </a:p>
        </p:txBody>
      </p:sp>
      <p:sp>
        <p:nvSpPr>
          <p:cNvPr id="6" name="">
            <a:extLst xmlns:a="http://schemas.openxmlformats.org/drawingml/2006/main">
              <a:ext uri="{FF2B5EF4-FFF2-40B4-BE49-F238E27FC236}">
                <a16:creationId xmlns:a16="http://schemas.microsoft.com/office/drawing/2014/main" id="{66B4FEFE-EA50-409A-BE1A-DCF9CD290FA5}"/>
              </a:ext>
            </a:extLst>
          </p:cNvPr>
          <p:cNvSpPr>
            <a:spLocks xmlns:a="http://schemas.openxmlformats.org/drawingml/2006/main" noGrp="1"/>
          </p:cNvSpPr>
          <p:nvPr/>
        </p:nvSpPr>
        <p:spPr>
          <a:xfrm xmlns:a="http://schemas.openxmlformats.org/drawingml/2006/main">
            <a:off x="609600" y="48958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5765D"/>
                </a:solidFill>
                <a:latin typeface="Arial"/>
                <a:ea typeface="Arial"/>
                <a:cs typeface="Arial"/>
              </a:defRPr>
            </a:pPr>
            <a:r>
              <a:rPr sz="3150" b="1">
                <a:solidFill>
                  <a:srgbClr val="25765D"/>
                </a:solidFill>
                <a:latin typeface="Arial"/>
                <a:ea typeface="Arial"/>
                <a:cs typeface="Arial"/>
              </a:rPr>
              <a:t>One exact agreement connects the people to the loan.</a:t>
            </a:r>
          </a:p>
        </p:txBody>
      </p:sp>
    </p:spTree>
    <p:extLst>
      <p:ext uri="{BB962C8B-B14F-4D97-AF65-F5344CB8AC3E}">
        <p14:creationId xmlns:p14="http://schemas.microsoft.com/office/powerpoint/2010/main" val="1307534631"/>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9D1BE83-F4E1-4015-B2C8-F01B931189DE}"/>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2AD69BAF-1645-4726-AF80-7AC1301B2E55}"/>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AB1892C4-0B14-4003-B5A0-8D8D83777A21}"/>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One application. Two kinds of evidence.</a:t>
            </a:r>
          </a:p>
        </p:txBody>
      </p:sp>
      <p:sp>
        <p:nvSpPr>
          <p:cNvPr id="4" name="">
            <a:extLst xmlns:a="http://schemas.openxmlformats.org/drawingml/2006/main">
              <a:ext uri="{FF2B5EF4-FFF2-40B4-BE49-F238E27FC236}">
                <a16:creationId xmlns:a16="http://schemas.microsoft.com/office/drawing/2014/main" id="{7B59B27A-A0A1-4519-BC33-177965A77728}"/>
              </a:ext>
            </a:extLst>
          </p:cNvPr>
          <p:cNvSpPr>
            <a:spLocks xmlns:a="http://schemas.openxmlformats.org/drawingml/2006/main" noGrp="1"/>
          </p:cNvSpPr>
          <p:nvPr/>
        </p:nvSpPr>
        <p:spPr>
          <a:xfrm xmlns:a="http://schemas.openxmlformats.org/drawingml/2006/main">
            <a:off x="609600"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5" name="">
            <a:extLst xmlns:a="http://schemas.openxmlformats.org/drawingml/2006/main">
              <a:ext uri="{FF2B5EF4-FFF2-40B4-BE49-F238E27FC236}">
                <a16:creationId xmlns:a16="http://schemas.microsoft.com/office/drawing/2014/main" id="{D09ACFE9-71D1-4E3E-A8F0-1E4739A3557F}"/>
              </a:ext>
            </a:extLst>
          </p:cNvPr>
          <p:cNvSpPr>
            <a:spLocks xmlns:a="http://schemas.openxmlformats.org/drawingml/2006/main" noGrp="1"/>
          </p:cNvSpPr>
          <p:nvPr/>
        </p:nvSpPr>
        <p:spPr>
          <a:xfrm xmlns:a="http://schemas.openxmlformats.org/drawingml/2006/main">
            <a:off x="781050"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People + AI</a:t>
            </a:r>
          </a:p>
        </p:txBody>
      </p:sp>
      <p:sp>
        <p:nvSpPr>
          <p:cNvPr id="6" name="">
            <a:extLst xmlns:a="http://schemas.openxmlformats.org/drawingml/2006/main">
              <a:ext uri="{FF2B5EF4-FFF2-40B4-BE49-F238E27FC236}">
                <a16:creationId xmlns:a16="http://schemas.microsoft.com/office/drawing/2014/main" id="{678F38FE-47DE-4AAF-BED2-958C218C7F5A}"/>
              </a:ext>
            </a:extLst>
          </p:cNvPr>
          <p:cNvSpPr>
            <a:spLocks xmlns:a="http://schemas.openxmlformats.org/drawingml/2006/main" noGrp="1"/>
          </p:cNvSpPr>
          <p:nvPr/>
        </p:nvSpPr>
        <p:spPr>
          <a:xfrm xmlns:a="http://schemas.openxmlformats.org/drawingml/2006/main">
            <a:off x="781050"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Requests and</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exact terms</a:t>
            </a:r>
          </a:p>
        </p:txBody>
      </p:sp>
      <p:sp>
        <p:nvSpPr>
          <p:cNvPr id="7" name="">
            <a:extLst xmlns:a="http://schemas.openxmlformats.org/drawingml/2006/main">
              <a:ext uri="{FF2B5EF4-FFF2-40B4-BE49-F238E27FC236}">
                <a16:creationId xmlns:a16="http://schemas.microsoft.com/office/drawing/2014/main" id="{AD6FC39E-CB6F-4961-854C-48E6EF2D4CBE}"/>
              </a:ext>
            </a:extLst>
          </p:cNvPr>
          <p:cNvSpPr>
            <a:spLocks xmlns:a="http://schemas.openxmlformats.org/drawingml/2006/main" noGrp="1"/>
          </p:cNvSpPr>
          <p:nvPr/>
        </p:nvSpPr>
        <p:spPr>
          <a:xfrm xmlns:a="http://schemas.openxmlformats.org/drawingml/2006/main">
            <a:off x="308610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2B63903-CCBC-43A7-9379-A3FE3CC70659}"/>
              </a:ext>
            </a:extLst>
          </p:cNvPr>
          <p:cNvSpPr>
            <a:spLocks xmlns:a="http://schemas.openxmlformats.org/drawingml/2006/main" noGrp="1"/>
          </p:cNvSpPr>
          <p:nvPr/>
        </p:nvSpPr>
        <p:spPr>
          <a:xfrm xmlns:a="http://schemas.openxmlformats.org/drawingml/2006/main">
            <a:off x="3476625"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9" name="">
            <a:extLst xmlns:a="http://schemas.openxmlformats.org/drawingml/2006/main">
              <a:ext uri="{FF2B5EF4-FFF2-40B4-BE49-F238E27FC236}">
                <a16:creationId xmlns:a16="http://schemas.microsoft.com/office/drawing/2014/main" id="{A657288C-0773-46C0-B08C-93CCEDD2806E}"/>
              </a:ext>
            </a:extLst>
          </p:cNvPr>
          <p:cNvSpPr>
            <a:spLocks xmlns:a="http://schemas.openxmlformats.org/drawingml/2006/main" noGrp="1"/>
          </p:cNvSpPr>
          <p:nvPr/>
        </p:nvSpPr>
        <p:spPr>
          <a:xfrm xmlns:a="http://schemas.openxmlformats.org/drawingml/2006/main">
            <a:off x="3648075"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Recognitium</a:t>
            </a:r>
          </a:p>
        </p:txBody>
      </p:sp>
      <p:sp>
        <p:nvSpPr>
          <p:cNvPr id="10" name="">
            <a:extLst xmlns:a="http://schemas.openxmlformats.org/drawingml/2006/main">
              <a:ext uri="{FF2B5EF4-FFF2-40B4-BE49-F238E27FC236}">
                <a16:creationId xmlns:a16="http://schemas.microsoft.com/office/drawing/2014/main" id="{E651936D-B8E3-4E03-8FCF-1A149F8DB135}"/>
              </a:ext>
            </a:extLst>
          </p:cNvPr>
          <p:cNvSpPr>
            <a:spLocks xmlns:a="http://schemas.openxmlformats.org/drawingml/2006/main" noGrp="1"/>
          </p:cNvSpPr>
          <p:nvPr/>
        </p:nvSpPr>
        <p:spPr>
          <a:xfrm xmlns:a="http://schemas.openxmlformats.org/drawingml/2006/main">
            <a:off x="3648075"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Separate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history</a:t>
            </a:r>
          </a:p>
        </p:txBody>
      </p:sp>
      <p:sp>
        <p:nvSpPr>
          <p:cNvPr id="11" name="">
            <a:extLst xmlns:a="http://schemas.openxmlformats.org/drawingml/2006/main">
              <a:ext uri="{FF2B5EF4-FFF2-40B4-BE49-F238E27FC236}">
                <a16:creationId xmlns:a16="http://schemas.microsoft.com/office/drawing/2014/main" id="{694D32C2-8CC6-4710-A9DD-A5DC6215DF3B}"/>
              </a:ext>
            </a:extLst>
          </p:cNvPr>
          <p:cNvSpPr>
            <a:spLocks xmlns:a="http://schemas.openxmlformats.org/drawingml/2006/main" noGrp="1"/>
          </p:cNvSpPr>
          <p:nvPr/>
        </p:nvSpPr>
        <p:spPr>
          <a:xfrm xmlns:a="http://schemas.openxmlformats.org/drawingml/2006/main">
            <a:off x="5953125"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A8B5060-8B98-4A1C-997B-87CA3D449DAC}"/>
              </a:ext>
            </a:extLst>
          </p:cNvPr>
          <p:cNvSpPr>
            <a:spLocks xmlns:a="http://schemas.openxmlformats.org/drawingml/2006/main" noGrp="1"/>
          </p:cNvSpPr>
          <p:nvPr/>
        </p:nvSpPr>
        <p:spPr>
          <a:xfrm xmlns:a="http://schemas.openxmlformats.org/drawingml/2006/main">
            <a:off x="6343650" y="2209800"/>
            <a:ext cx="21907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3" name="">
            <a:extLst xmlns:a="http://schemas.openxmlformats.org/drawingml/2006/main">
              <a:ext uri="{FF2B5EF4-FFF2-40B4-BE49-F238E27FC236}">
                <a16:creationId xmlns:a16="http://schemas.microsoft.com/office/drawing/2014/main" id="{AC822325-5C5D-47E0-A816-2FF217E558F6}"/>
              </a:ext>
            </a:extLst>
          </p:cNvPr>
          <p:cNvSpPr>
            <a:spLocks xmlns:a="http://schemas.openxmlformats.org/drawingml/2006/main" noGrp="1"/>
          </p:cNvSpPr>
          <p:nvPr/>
        </p:nvSpPr>
        <p:spPr>
          <a:xfrm xmlns:a="http://schemas.openxmlformats.org/drawingml/2006/main">
            <a:off x="6515100" y="23622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Broker</a:t>
            </a:r>
          </a:p>
        </p:txBody>
      </p:sp>
      <p:sp>
        <p:nvSpPr>
          <p:cNvPr id="14" name="">
            <a:extLst xmlns:a="http://schemas.openxmlformats.org/drawingml/2006/main">
              <a:ext uri="{FF2B5EF4-FFF2-40B4-BE49-F238E27FC236}">
                <a16:creationId xmlns:a16="http://schemas.microsoft.com/office/drawing/2014/main" id="{3F364629-A3CB-4C50-AFA6-F20A1130C2C6}"/>
              </a:ext>
            </a:extLst>
          </p:cNvPr>
          <p:cNvSpPr>
            <a:spLocks xmlns:a="http://schemas.openxmlformats.org/drawingml/2006/main" noGrp="1"/>
          </p:cNvSpPr>
          <p:nvPr/>
        </p:nvSpPr>
        <p:spPr>
          <a:xfrm xmlns:a="http://schemas.openxmlformats.org/drawingml/2006/main">
            <a:off x="6515100" y="2857500"/>
            <a:ext cx="1847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Verify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then co-sign</a:t>
            </a:r>
          </a:p>
        </p:txBody>
      </p:sp>
      <p:sp>
        <p:nvSpPr>
          <p:cNvPr id="15" name="">
            <a:extLst xmlns:a="http://schemas.openxmlformats.org/drawingml/2006/main">
              <a:ext uri="{FF2B5EF4-FFF2-40B4-BE49-F238E27FC236}">
                <a16:creationId xmlns:a16="http://schemas.microsoft.com/office/drawing/2014/main" id="{51A38FD9-BF9E-48A2-9470-A9E8EB97407C}"/>
              </a:ext>
            </a:extLst>
          </p:cNvPr>
          <p:cNvSpPr>
            <a:spLocks xmlns:a="http://schemas.openxmlformats.org/drawingml/2006/main" noGrp="1"/>
          </p:cNvSpPr>
          <p:nvPr/>
        </p:nvSpPr>
        <p:spPr>
          <a:xfrm xmlns:a="http://schemas.openxmlformats.org/drawingml/2006/main">
            <a:off x="862965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30957DC-22F5-4749-A3E7-A5CDEECCD53C}"/>
              </a:ext>
            </a:extLst>
          </p:cNvPr>
          <p:cNvSpPr>
            <a:spLocks xmlns:a="http://schemas.openxmlformats.org/drawingml/2006/main" noGrp="1"/>
          </p:cNvSpPr>
          <p:nvPr/>
        </p:nvSpPr>
        <p:spPr>
          <a:xfrm xmlns:a="http://schemas.openxmlformats.org/drawingml/2006/main">
            <a:off x="9020175" y="2209800"/>
            <a:ext cx="2562225"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7" name="">
            <a:extLst xmlns:a="http://schemas.openxmlformats.org/drawingml/2006/main">
              <a:ext uri="{FF2B5EF4-FFF2-40B4-BE49-F238E27FC236}">
                <a16:creationId xmlns:a16="http://schemas.microsoft.com/office/drawing/2014/main" id="{C8ECF96C-68DF-425B-9EDE-68E710344478}"/>
              </a:ext>
            </a:extLst>
          </p:cNvPr>
          <p:cNvSpPr>
            <a:spLocks xmlns:a="http://schemas.openxmlformats.org/drawingml/2006/main" noGrp="1"/>
          </p:cNvSpPr>
          <p:nvPr/>
        </p:nvSpPr>
        <p:spPr>
          <a:xfrm xmlns:a="http://schemas.openxmlformats.org/drawingml/2006/main">
            <a:off x="9191625" y="2362200"/>
            <a:ext cx="2219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XRPL</a:t>
            </a:r>
          </a:p>
        </p:txBody>
      </p:sp>
      <p:sp>
        <p:nvSpPr>
          <p:cNvPr id="18" name="">
            <a:extLst xmlns:a="http://schemas.openxmlformats.org/drawingml/2006/main">
              <a:ext uri="{FF2B5EF4-FFF2-40B4-BE49-F238E27FC236}">
                <a16:creationId xmlns:a16="http://schemas.microsoft.com/office/drawing/2014/main" id="{180A6F3E-D781-4F2A-A161-0AE31E794F9F}"/>
              </a:ext>
            </a:extLst>
          </p:cNvPr>
          <p:cNvSpPr>
            <a:spLocks xmlns:a="http://schemas.openxmlformats.org/drawingml/2006/main" noGrp="1"/>
          </p:cNvSpPr>
          <p:nvPr/>
        </p:nvSpPr>
        <p:spPr>
          <a:xfrm xmlns:a="http://schemas.openxmlformats.org/drawingml/2006/main">
            <a:off x="9191625" y="2857500"/>
            <a:ext cx="2219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Validate LoanSet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and transfer XRP</a:t>
            </a:r>
          </a:p>
        </p:txBody>
      </p:sp>
      <p:sp>
        <p:nvSpPr>
          <p:cNvPr id="19" name="">
            <a:extLst xmlns:a="http://schemas.openxmlformats.org/drawingml/2006/main">
              <a:ext uri="{FF2B5EF4-FFF2-40B4-BE49-F238E27FC236}">
                <a16:creationId xmlns:a16="http://schemas.microsoft.com/office/drawing/2014/main" id="{21D96266-42A0-4032-82D8-8F63C9564AE2}"/>
              </a:ext>
            </a:extLst>
          </p:cNvPr>
          <p:cNvSpPr>
            <a:spLocks xmlns:a="http://schemas.openxmlformats.org/drawingml/2006/main" noGrp="1"/>
          </p:cNvSpPr>
          <p:nvPr/>
        </p:nvSpPr>
        <p:spPr>
          <a:xfrm xmlns:a="http://schemas.openxmlformats.org/drawingml/2006/main">
            <a:off x="609600" y="40862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62"/>
                </a:solidFill>
                <a:latin typeface="Arial"/>
                <a:ea typeface="Arial"/>
                <a:cs typeface="Arial"/>
              </a:defRPr>
            </a:pPr>
            <a:r>
              <a:rPr sz="1875" b="0">
                <a:solidFill>
                  <a:srgbClr val="526862"/>
                </a:solidFill>
                <a:latin typeface="Arial"/>
                <a:ea typeface="Arial"/>
                <a:cs typeface="Arial"/>
              </a:rPr>
              <a:t>Private agreement history stays off the public rail. Only commitments travel.</a:t>
            </a:r>
          </a:p>
        </p:txBody>
      </p:sp>
      <p:sp>
        <p:nvSpPr>
          <p:cNvPr id="20" name="">
            <a:extLst xmlns:a="http://schemas.openxmlformats.org/drawingml/2006/main">
              <a:ext uri="{FF2B5EF4-FFF2-40B4-BE49-F238E27FC236}">
                <a16:creationId xmlns:a16="http://schemas.microsoft.com/office/drawing/2014/main" id="{C4528F97-A635-41B4-A186-7C32348923A2}"/>
              </a:ext>
            </a:extLst>
          </p:cNvPr>
          <p:cNvSpPr>
            <a:spLocks xmlns:a="http://schemas.openxmlformats.org/drawingml/2006/main" noGrp="1"/>
          </p:cNvSpPr>
          <p:nvPr/>
        </p:nvSpPr>
        <p:spPr>
          <a:xfrm xmlns:a="http://schemas.openxmlformats.org/drawingml/2006/main">
            <a:off x="609600"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XLS-65</a:t>
            </a:r>
          </a:p>
        </p:txBody>
      </p:sp>
      <p:sp>
        <p:nvSpPr>
          <p:cNvPr id="21" name="">
            <a:extLst xmlns:a="http://schemas.openxmlformats.org/drawingml/2006/main">
              <a:ext uri="{FF2B5EF4-FFF2-40B4-BE49-F238E27FC236}">
                <a16:creationId xmlns:a16="http://schemas.microsoft.com/office/drawing/2014/main" id="{FA7130C3-A93F-4731-9879-D8FFAEBA3A6B}"/>
              </a:ext>
            </a:extLst>
          </p:cNvPr>
          <p:cNvSpPr>
            <a:spLocks xmlns:a="http://schemas.openxmlformats.org/drawingml/2006/main" noGrp="1"/>
          </p:cNvSpPr>
          <p:nvPr/>
        </p:nvSpPr>
        <p:spPr>
          <a:xfrm xmlns:a="http://schemas.openxmlformats.org/drawingml/2006/main">
            <a:off x="609600" y="52578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a:t>
            </a:r>
          </a:p>
        </p:txBody>
      </p:sp>
      <p:sp>
        <p:nvSpPr>
          <p:cNvPr id="22" name="">
            <a:extLst xmlns:a="http://schemas.openxmlformats.org/drawingml/2006/main">
              <a:ext uri="{FF2B5EF4-FFF2-40B4-BE49-F238E27FC236}">
                <a16:creationId xmlns:a16="http://schemas.microsoft.com/office/drawing/2014/main" id="{59008DD3-89B5-4FF6-96D7-5BAF2F0A9A3F}"/>
              </a:ext>
            </a:extLst>
          </p:cNvPr>
          <p:cNvSpPr>
            <a:spLocks xmlns:a="http://schemas.openxmlformats.org/drawingml/2006/main" noGrp="1"/>
          </p:cNvSpPr>
          <p:nvPr/>
        </p:nvSpPr>
        <p:spPr>
          <a:xfrm xmlns:a="http://schemas.openxmlformats.org/drawingml/2006/main">
            <a:off x="30289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FD79154-3487-4DB9-A165-8201DBC9C1F6}"/>
              </a:ext>
            </a:extLst>
          </p:cNvPr>
          <p:cNvSpPr>
            <a:spLocks xmlns:a="http://schemas.openxmlformats.org/drawingml/2006/main" noGrp="1"/>
          </p:cNvSpPr>
          <p:nvPr/>
        </p:nvSpPr>
        <p:spPr>
          <a:xfrm xmlns:a="http://schemas.openxmlformats.org/drawingml/2006/main">
            <a:off x="3476625"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XLS-66</a:t>
            </a:r>
          </a:p>
        </p:txBody>
      </p:sp>
      <p:sp>
        <p:nvSpPr>
          <p:cNvPr id="24" name="">
            <a:extLst xmlns:a="http://schemas.openxmlformats.org/drawingml/2006/main">
              <a:ext uri="{FF2B5EF4-FFF2-40B4-BE49-F238E27FC236}">
                <a16:creationId xmlns:a16="http://schemas.microsoft.com/office/drawing/2014/main" id="{791B2B5C-FB57-4E8B-A686-321A39E3083E}"/>
              </a:ext>
            </a:extLst>
          </p:cNvPr>
          <p:cNvSpPr>
            <a:spLocks xmlns:a="http://schemas.openxmlformats.org/drawingml/2006/main" noGrp="1"/>
          </p:cNvSpPr>
          <p:nvPr/>
        </p:nvSpPr>
        <p:spPr>
          <a:xfrm xmlns:a="http://schemas.openxmlformats.org/drawingml/2006/main">
            <a:off x="3476625"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LoanSet</a:t>
            </a:r>
          </a:p>
        </p:txBody>
      </p:sp>
      <p:sp>
        <p:nvSpPr>
          <p:cNvPr id="25" name="">
            <a:extLst xmlns:a="http://schemas.openxmlformats.org/drawingml/2006/main">
              <a:ext uri="{FF2B5EF4-FFF2-40B4-BE49-F238E27FC236}">
                <a16:creationId xmlns:a16="http://schemas.microsoft.com/office/drawing/2014/main" id="{4443C791-32A7-416F-95EF-483C71EBA5F0}"/>
              </a:ext>
            </a:extLst>
          </p:cNvPr>
          <p:cNvSpPr>
            <a:spLocks xmlns:a="http://schemas.openxmlformats.org/drawingml/2006/main" noGrp="1"/>
          </p:cNvSpPr>
          <p:nvPr/>
        </p:nvSpPr>
        <p:spPr>
          <a:xfrm xmlns:a="http://schemas.openxmlformats.org/drawingml/2006/main">
            <a:off x="5800725"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AB7CC71-2B5F-4899-B750-3A918C54FA7C}"/>
              </a:ext>
            </a:extLst>
          </p:cNvPr>
          <p:cNvSpPr>
            <a:spLocks xmlns:a="http://schemas.openxmlformats.org/drawingml/2006/main" noGrp="1"/>
          </p:cNvSpPr>
          <p:nvPr/>
        </p:nvSpPr>
        <p:spPr>
          <a:xfrm xmlns:a="http://schemas.openxmlformats.org/drawingml/2006/main">
            <a:off x="6343650"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LoanPay</a:t>
            </a:r>
          </a:p>
        </p:txBody>
      </p:sp>
      <p:sp>
        <p:nvSpPr>
          <p:cNvPr id="27" name="">
            <a:extLst xmlns:a="http://schemas.openxmlformats.org/drawingml/2006/main">
              <a:ext uri="{FF2B5EF4-FFF2-40B4-BE49-F238E27FC236}">
                <a16:creationId xmlns:a16="http://schemas.microsoft.com/office/drawing/2014/main" id="{7A725DBE-B7A9-4FB2-897A-45E286BAE826}"/>
              </a:ext>
            </a:extLst>
          </p:cNvPr>
          <p:cNvSpPr>
            <a:spLocks xmlns:a="http://schemas.openxmlformats.org/drawingml/2006/main" noGrp="1"/>
          </p:cNvSpPr>
          <p:nvPr/>
        </p:nvSpPr>
        <p:spPr>
          <a:xfrm xmlns:a="http://schemas.openxmlformats.org/drawingml/2006/main">
            <a:off x="86296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53D17DE-0AE2-4C37-BD46-AC7179BDFD3D}"/>
              </a:ext>
            </a:extLst>
          </p:cNvPr>
          <p:cNvSpPr>
            <a:spLocks xmlns:a="http://schemas.openxmlformats.org/drawingml/2006/main" noGrp="1"/>
          </p:cNvSpPr>
          <p:nvPr/>
        </p:nvSpPr>
        <p:spPr>
          <a:xfrm xmlns:a="http://schemas.openxmlformats.org/drawingml/2006/main">
            <a:off x="9020175" y="5257800"/>
            <a:ext cx="2562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VaultWithdraw</a:t>
            </a:r>
          </a:p>
        </p:txBody>
      </p:sp>
      <p:sp>
        <p:nvSpPr>
          <p:cNvPr id="29" name="">
            <a:extLst xmlns:a="http://schemas.openxmlformats.org/drawingml/2006/main">
              <a:ext uri="{FF2B5EF4-FFF2-40B4-BE49-F238E27FC236}">
                <a16:creationId xmlns:a16="http://schemas.microsoft.com/office/drawing/2014/main" id="{D67FC450-F172-46F9-968B-8B5B578142DA}"/>
              </a:ext>
            </a:extLst>
          </p:cNvPr>
          <p:cNvSpPr>
            <a:spLocks xmlns:a="http://schemas.openxmlformats.org/drawingml/2006/main" noGrp="1"/>
          </p:cNvSpPr>
          <p:nvPr/>
        </p:nvSpPr>
        <p:spPr>
          <a:xfrm xmlns:a="http://schemas.openxmlformats.org/drawingml/2006/main">
            <a:off x="609600" y="6238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The broker enforces the receipt policy. XRPL enforces its native lending rules.</a:t>
            </a:r>
          </a:p>
        </p:txBody>
      </p:sp>
    </p:spTree>
    <p:extLst>
      <p:ext uri="{BB962C8B-B14F-4D97-AF65-F5344CB8AC3E}">
        <p14:creationId xmlns:p14="http://schemas.microsoft.com/office/powerpoint/2010/main" val="1167559374"/>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463602-BE3A-4914-9289-9DE951D770E8}"/>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3F85799A-FD0D-4E07-9202-AA1C0827884C}"/>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99F9AFC7-497C-44D3-A480-DAD0E474E3DB}"/>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Native lending, with evidence to inspect</a:t>
            </a:r>
          </a:p>
        </p:txBody>
      </p:sp>
      <p:sp>
        <p:nvSpPr>
          <p:cNvPr id="4" name="">
            <a:extLst xmlns:a="http://schemas.openxmlformats.org/drawingml/2006/main">
              <a:ext uri="{FF2B5EF4-FFF2-40B4-BE49-F238E27FC236}">
                <a16:creationId xmlns:a16="http://schemas.microsoft.com/office/drawing/2014/main" id="{7BD1492C-C96F-4977-820A-EBC5F5D778C4}"/>
              </a:ext>
            </a:extLst>
          </p:cNvPr>
          <p:cNvSpPr>
            <a:spLocks xmlns:a="http://schemas.openxmlformats.org/drawingml/2006/main" noGrp="1"/>
          </p:cNvSpPr>
          <p:nvPr/>
        </p:nvSpPr>
        <p:spPr>
          <a:xfrm xmlns:a="http://schemas.openxmlformats.org/drawingml/2006/main">
            <a:off x="609600" y="22193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5765D"/>
                </a:solidFill>
                <a:latin typeface="Arial"/>
                <a:ea typeface="Arial"/>
                <a:cs typeface="Arial"/>
              </a:defRPr>
            </a:pPr>
            <a:r>
              <a:rPr sz="5700" b="1">
                <a:solidFill>
                  <a:srgbClr val="25765D"/>
                </a:solidFill>
                <a:latin typeface="Arial"/>
                <a:ea typeface="Arial"/>
                <a:cs typeface="Arial"/>
              </a:rPr>
              <a:t>100 XRP</a:t>
            </a:r>
          </a:p>
        </p:txBody>
      </p:sp>
      <p:sp>
        <p:nvSpPr>
          <p:cNvPr id="5" name="">
            <a:extLst xmlns:a="http://schemas.openxmlformats.org/drawingml/2006/main">
              <a:ext uri="{FF2B5EF4-FFF2-40B4-BE49-F238E27FC236}">
                <a16:creationId xmlns:a16="http://schemas.microsoft.com/office/drawing/2014/main" id="{293614DC-D115-472F-98B3-E6FE8488F213}"/>
              </a:ext>
            </a:extLst>
          </p:cNvPr>
          <p:cNvSpPr>
            <a:spLocks xmlns:a="http://schemas.openxmlformats.org/drawingml/2006/main" noGrp="1"/>
          </p:cNvSpPr>
          <p:nvPr/>
        </p:nvSpPr>
        <p:spPr>
          <a:xfrm xmlns:a="http://schemas.openxmlformats.org/drawingml/2006/main">
            <a:off x="609600" y="33432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Borrower funding confirmed</a:t>
            </a:r>
          </a:p>
        </p:txBody>
      </p:sp>
      <p:sp>
        <p:nvSpPr>
          <p:cNvPr id="6" name="">
            <a:extLst xmlns:a="http://schemas.openxmlformats.org/drawingml/2006/main">
              <a:ext uri="{FF2B5EF4-FFF2-40B4-BE49-F238E27FC236}">
                <a16:creationId xmlns:a16="http://schemas.microsoft.com/office/drawing/2014/main" id="{EFD2B29D-80C9-40D2-8F50-2C3092ABB563}"/>
              </a:ext>
            </a:extLst>
          </p:cNvPr>
          <p:cNvSpPr>
            <a:spLocks xmlns:a="http://schemas.openxmlformats.org/drawingml/2006/main" noGrp="1"/>
          </p:cNvSpPr>
          <p:nvPr/>
        </p:nvSpPr>
        <p:spPr>
          <a:xfrm xmlns:a="http://schemas.openxmlformats.org/drawingml/2006/main">
            <a:off x="6334125" y="23336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C35"/>
                </a:solidFill>
                <a:latin typeface="Arial"/>
                <a:ea typeface="Arial"/>
                <a:cs typeface="Arial"/>
              </a:defRPr>
            </a:pPr>
            <a:r>
              <a:rPr sz="4200" b="1">
                <a:solidFill>
                  <a:srgbClr val="123C35"/>
                </a:solidFill>
                <a:latin typeface="Arial"/>
                <a:ea typeface="Arial"/>
                <a:cs typeface="Arial"/>
              </a:rPr>
              <a:t>200.000020 XRP</a:t>
            </a:r>
          </a:p>
        </p:txBody>
      </p:sp>
      <p:sp>
        <p:nvSpPr>
          <p:cNvPr id="7" name="">
            <a:extLst xmlns:a="http://schemas.openxmlformats.org/drawingml/2006/main">
              <a:ext uri="{FF2B5EF4-FFF2-40B4-BE49-F238E27FC236}">
                <a16:creationId xmlns:a16="http://schemas.microsoft.com/office/drawing/2014/main" id="{EC238FEC-5215-47CC-913C-913AC8077D60}"/>
              </a:ext>
            </a:extLst>
          </p:cNvPr>
          <p:cNvSpPr>
            <a:spLocks xmlns:a="http://schemas.openxmlformats.org/drawingml/2006/main" noGrp="1"/>
          </p:cNvSpPr>
          <p:nvPr/>
        </p:nvSpPr>
        <p:spPr>
          <a:xfrm xmlns:a="http://schemas.openxmlformats.org/drawingml/2006/main">
            <a:off x="6334125" y="334327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Lender withdrawal</a:t>
            </a:r>
          </a:p>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20 drops gross yield</a:t>
            </a:r>
          </a:p>
        </p:txBody>
      </p:sp>
      <p:sp>
        <p:nvSpPr>
          <p:cNvPr id="8" name="">
            <a:extLst xmlns:a="http://schemas.openxmlformats.org/drawingml/2006/main">
              <a:ext uri="{FF2B5EF4-FFF2-40B4-BE49-F238E27FC236}">
                <a16:creationId xmlns:a16="http://schemas.microsoft.com/office/drawing/2014/main" id="{A2920711-504E-4AA6-A364-6758B1C46C66}"/>
              </a:ext>
            </a:extLst>
          </p:cNvPr>
          <p:cNvSpPr>
            <a:spLocks xmlns:a="http://schemas.openxmlformats.org/drawingml/2006/main" noGrp="1"/>
          </p:cNvSpPr>
          <p:nvPr/>
        </p:nvSpPr>
        <p:spPr>
          <a:xfrm xmlns:a="http://schemas.openxmlformats.org/drawingml/2006/main">
            <a:off x="609600" y="48101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   /   Broker + loan   /   Repay   /   Withdraw</a:t>
            </a:r>
          </a:p>
        </p:txBody>
      </p:sp>
      <p:sp>
        <p:nvSpPr>
          <p:cNvPr id="9" name="">
            <a:extLst xmlns:a="http://schemas.openxmlformats.org/drawingml/2006/main">
              <a:ext uri="{FF2B5EF4-FFF2-40B4-BE49-F238E27FC236}">
                <a16:creationId xmlns:a16="http://schemas.microsoft.com/office/drawing/2014/main" id="{08CF3241-69F0-4B56-843B-B767F316896A}"/>
              </a:ext>
            </a:extLst>
          </p:cNvPr>
          <p:cNvSpPr>
            <a:spLocks xmlns:a="http://schemas.openxmlformats.org/drawingml/2006/main" noGrp="1"/>
          </p:cNvSpPr>
          <p:nvPr/>
        </p:nvSpPr>
        <p:spPr>
          <a:xfrm xmlns:a="http://schemas.openxmlformats.org/drawingml/2006/main">
            <a:off x="609600" y="54864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75BDA"/>
                </a:solidFill>
                <a:latin typeface="Arial"/>
                <a:ea typeface="Arial"/>
                <a:cs typeface="Arial"/>
              </a:defRPr>
            </a:pPr>
            <a:r>
              <a:rPr sz="2175" b="1">
                <a:solidFill>
                  <a:srgbClr val="075BDA"/>
                </a:solidFill>
                <a:latin typeface="Arial"/>
                <a:ea typeface="Arial"/>
                <a:cs typeface="Arial"/>
              </a:rPr>
              <a:t>Native refusal: tecINSUFFICIENT_FUNDS</a:t>
            </a:r>
          </a:p>
        </p:txBody>
      </p:sp>
      <p:sp>
        <p:nvSpPr>
          <p:cNvPr id="10" name="">
            <a:extLst xmlns:a="http://schemas.openxmlformats.org/drawingml/2006/main">
              <a:ext uri="{FF2B5EF4-FFF2-40B4-BE49-F238E27FC236}">
                <a16:creationId xmlns:a16="http://schemas.microsoft.com/office/drawing/2014/main" id="{A25EAD7F-4F01-4199-BC78-21228F24CD85}"/>
              </a:ext>
            </a:extLst>
          </p:cNvPr>
          <p:cNvSpPr>
            <a:spLocks xmlns:a="http://schemas.openxmlformats.org/drawingml/2006/main" noGrp="1"/>
          </p:cNvSpPr>
          <p:nvPr/>
        </p:nvSpPr>
        <p:spPr>
          <a:xfrm xmlns:a="http://schemas.openxmlformats.org/drawingml/2006/main">
            <a:off x="609600" y="61531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Completed test-network evidence. A fresh matched run remains pending.</a:t>
            </a:r>
          </a:p>
        </p:txBody>
      </p:sp>
    </p:spTree>
    <p:extLst>
      <p:ext uri="{BB962C8B-B14F-4D97-AF65-F5344CB8AC3E}">
        <p14:creationId xmlns:p14="http://schemas.microsoft.com/office/powerpoint/2010/main" val="1333220749"/>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DA49AF-0F55-4B93-823D-98AF457B250D}"/>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DFFA5ADB-19A8-461F-BE8D-543AC57C9852}"/>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63296612-B8FD-40A0-B4A6-97885DDF863B}"/>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AI prepares. People commit.</a:t>
            </a:r>
          </a:p>
        </p:txBody>
      </p:sp>
      <p:sp>
        <p:nvSpPr>
          <p:cNvPr id="4" name="">
            <a:extLst xmlns:a="http://schemas.openxmlformats.org/drawingml/2006/main">
              <a:ext uri="{FF2B5EF4-FFF2-40B4-BE49-F238E27FC236}">
                <a16:creationId xmlns:a16="http://schemas.microsoft.com/office/drawing/2014/main" id="{86848F6B-138D-45B3-A19B-724FE11A0CF9}"/>
              </a:ext>
            </a:extLst>
          </p:cNvPr>
          <p:cNvSpPr>
            <a:spLocks xmlns:a="http://schemas.openxmlformats.org/drawingml/2006/main" noGrp="1"/>
          </p:cNvSpPr>
          <p:nvPr/>
        </p:nvSpPr>
        <p:spPr>
          <a:xfrm xmlns:a="http://schemas.openxmlformats.org/drawingml/2006/main">
            <a:off x="609600" y="22669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small fingerprint can bind</a:t>
            </a:r>
          </a:p>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large private agreement.</a:t>
            </a:r>
          </a:p>
        </p:txBody>
      </p:sp>
      <p:sp>
        <p:nvSpPr>
          <p:cNvPr id="5" name="">
            <a:extLst xmlns:a="http://schemas.openxmlformats.org/drawingml/2006/main">
              <a:ext uri="{FF2B5EF4-FFF2-40B4-BE49-F238E27FC236}">
                <a16:creationId xmlns:a16="http://schemas.microsoft.com/office/drawing/2014/main" id="{7ADD1FB3-DB30-41D1-98EF-BFCE3D425BD7}"/>
              </a:ext>
            </a:extLst>
          </p:cNvPr>
          <p:cNvSpPr>
            <a:spLocks xmlns:a="http://schemas.openxmlformats.org/drawingml/2006/main" noGrp="1"/>
          </p:cNvSpPr>
          <p:nvPr/>
        </p:nvSpPr>
        <p:spPr>
          <a:xfrm xmlns:a="http://schemas.openxmlformats.org/drawingml/2006/main">
            <a:off x="609600" y="444817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Agents exchange structured requests.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Humans approve exact terms.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The broker checks proof before signing.</a:t>
            </a:r>
          </a:p>
        </p:txBody>
      </p:sp>
      <p:sp>
        <p:nvSpPr>
          <p:cNvPr id="6" name="">
            <a:extLst xmlns:a="http://schemas.openxmlformats.org/drawingml/2006/main">
              <a:ext uri="{FF2B5EF4-FFF2-40B4-BE49-F238E27FC236}">
                <a16:creationId xmlns:a16="http://schemas.microsoft.com/office/drawing/2014/main" id="{24D0B7D1-83BC-4C86-9A4C-E22A6EE77ED7}"/>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Local content checks, authority verification and XRPL confirmation stay distinct.</a:t>
            </a:r>
          </a:p>
        </p:txBody>
      </p:sp>
    </p:spTree>
    <p:extLst>
      <p:ext uri="{BB962C8B-B14F-4D97-AF65-F5344CB8AC3E}">
        <p14:creationId xmlns:p14="http://schemas.microsoft.com/office/powerpoint/2010/main" val="1197285786"/>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7C620BB-4139-4827-B578-BC03F3E968F6}"/>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552D8ED2-2CCD-44A4-9528-FF5EC2782B58}"/>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C5EA55C-97CC-4A46-9591-F0440DC67346}"/>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Three findings. Three concrete fixes.</a:t>
            </a:r>
          </a:p>
        </p:txBody>
      </p:sp>
      <p:sp>
        <p:nvSpPr>
          <p:cNvPr id="4" name="">
            <a:extLst xmlns:a="http://schemas.openxmlformats.org/drawingml/2006/main">
              <a:ext uri="{FF2B5EF4-FFF2-40B4-BE49-F238E27FC236}">
                <a16:creationId xmlns:a16="http://schemas.microsoft.com/office/drawing/2014/main" id="{42792115-A800-4B1A-A484-A502191E80DA}"/>
              </a:ext>
            </a:extLst>
          </p:cNvPr>
          <p:cNvSpPr>
            <a:spLocks xmlns:a="http://schemas.openxmlformats.org/drawingml/2006/main" noGrp="1"/>
          </p:cNvSpPr>
          <p:nvPr/>
        </p:nvSpPr>
        <p:spPr>
          <a:xfrm xmlns:a="http://schemas.openxmlformats.org/drawingml/2006/main">
            <a:off x="609600" y="199072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526862"/>
                </a:solidFill>
                <a:latin typeface="Arial"/>
                <a:ea typeface="Arial"/>
                <a:cs typeface="Arial"/>
              </a:defRPr>
            </a:pPr>
            <a:r>
              <a:rPr sz="1950" b="1">
                <a:solidFill>
                  <a:srgbClr val="526862"/>
                </a:solidFill>
                <a:latin typeface="Arial"/>
                <a:ea typeface="Arial"/>
                <a:cs typeface="Arial"/>
              </a:rPr>
              <a:t>What we encountered</a:t>
            </a:r>
          </a:p>
        </p:txBody>
      </p:sp>
      <p:sp>
        <p:nvSpPr>
          <p:cNvPr id="5" name="">
            <a:extLst xmlns:a="http://schemas.openxmlformats.org/drawingml/2006/main">
              <a:ext uri="{FF2B5EF4-FFF2-40B4-BE49-F238E27FC236}">
                <a16:creationId xmlns:a16="http://schemas.microsoft.com/office/drawing/2014/main" id="{A9F1B3AC-67FF-49F4-A3E5-77D1A9291089}"/>
              </a:ext>
            </a:extLst>
          </p:cNvPr>
          <p:cNvSpPr>
            <a:spLocks xmlns:a="http://schemas.openxmlformats.org/drawingml/2006/main" noGrp="1"/>
          </p:cNvSpPr>
          <p:nvPr/>
        </p:nvSpPr>
        <p:spPr>
          <a:xfrm xmlns:a="http://schemas.openxmlformats.org/drawingml/2006/main">
            <a:off x="6276975" y="1990725"/>
            <a:ext cx="527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What would help the next builder</a:t>
            </a:r>
          </a:p>
        </p:txBody>
      </p:sp>
      <p:sp>
        <p:nvSpPr>
          <p:cNvPr id="6" name="">
            <a:extLst xmlns:a="http://schemas.openxmlformats.org/drawingml/2006/main">
              <a:ext uri="{FF2B5EF4-FFF2-40B4-BE49-F238E27FC236}">
                <a16:creationId xmlns:a16="http://schemas.microsoft.com/office/drawing/2014/main" id="{8CCE1217-EAFE-4F4D-BED2-77976FA25499}"/>
              </a:ext>
            </a:extLst>
          </p:cNvPr>
          <p:cNvSpPr>
            <a:spLocks xmlns:a="http://schemas.openxmlformats.org/drawingml/2006/main" noGrp="1"/>
          </p:cNvSpPr>
          <p:nvPr/>
        </p:nvSpPr>
        <p:spPr>
          <a:xfrm xmlns:a="http://schemas.openxmlformats.org/drawingml/2006/main">
            <a:off x="609600" y="2867025"/>
            <a:ext cx="5010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23C35"/>
                </a:solidFill>
                <a:latin typeface="Arial"/>
                <a:ea typeface="Arial"/>
                <a:cs typeface="Arial"/>
              </a:defRPr>
            </a:pPr>
            <a:r>
              <a:rPr sz="2625" b="1">
                <a:solidFill>
                  <a:srgbClr val="123C35"/>
                </a:solidFill>
                <a:latin typeface="Arial"/>
                <a:ea typeface="Arial"/>
                <a:cs typeface="Arial"/>
              </a:rPr>
              <a:t>Event ports timed out</a:t>
            </a:r>
          </a:p>
        </p:txBody>
      </p:sp>
      <p:sp>
        <p:nvSpPr>
          <p:cNvPr id="7" name="">
            <a:extLst xmlns:a="http://schemas.openxmlformats.org/drawingml/2006/main">
              <a:ext uri="{FF2B5EF4-FFF2-40B4-BE49-F238E27FC236}">
                <a16:creationId xmlns:a16="http://schemas.microsoft.com/office/drawing/2014/main" id="{FC03692F-3388-4706-828B-0C53A7E2B457}"/>
              </a:ext>
            </a:extLst>
          </p:cNvPr>
          <p:cNvSpPr>
            <a:spLocks xmlns:a="http://schemas.openxmlformats.org/drawingml/2006/main" noGrp="1"/>
          </p:cNvSpPr>
          <p:nvPr/>
        </p:nvSpPr>
        <p:spPr>
          <a:xfrm xmlns:a="http://schemas.openxmlformats.org/drawingml/2006/main">
            <a:off x="6276975" y="28956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23C35"/>
                </a:solidFill>
                <a:latin typeface="Arial"/>
                <a:ea typeface="Arial"/>
                <a:cs typeface="Arial"/>
              </a:defRPr>
            </a:pPr>
            <a:r>
              <a:rPr sz="2175" b="0">
                <a:solidFill>
                  <a:srgbClr val="123C35"/>
                </a:solidFill>
                <a:latin typeface="Arial"/>
                <a:ea typeface="Arial"/>
                <a:cs typeface="Arial"/>
              </a:rPr>
              <a:t>A connection probe before setup</a:t>
            </a:r>
          </a:p>
        </p:txBody>
      </p:sp>
      <p:sp>
        <p:nvSpPr>
          <p:cNvPr id="8" name="">
            <a:extLst xmlns:a="http://schemas.openxmlformats.org/drawingml/2006/main">
              <a:ext uri="{FF2B5EF4-FFF2-40B4-BE49-F238E27FC236}">
                <a16:creationId xmlns:a16="http://schemas.microsoft.com/office/drawing/2014/main" id="{FDD98807-B50B-4D17-8F0E-0372DC272CC7}"/>
              </a:ext>
            </a:extLst>
          </p:cNvPr>
          <p:cNvSpPr>
            <a:spLocks xmlns:a="http://schemas.openxmlformats.org/drawingml/2006/main" noGrp="1"/>
          </p:cNvSpPr>
          <p:nvPr/>
        </p:nvSpPr>
        <p:spPr>
          <a:xfrm xmlns:a="http://schemas.openxmlformats.org/drawingml/2006/main">
            <a:off x="609600" y="3971925"/>
            <a:ext cx="5010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23C35"/>
                </a:solidFill>
                <a:latin typeface="Arial"/>
                <a:ea typeface="Arial"/>
                <a:cs typeface="Arial"/>
              </a:defRPr>
            </a:pPr>
            <a:r>
              <a:rPr sz="2625" b="1">
                <a:solidFill>
                  <a:srgbClr val="123C35"/>
                </a:solidFill>
                <a:latin typeface="Arial"/>
                <a:ea typeface="Arial"/>
                <a:cs typeface="Arial"/>
              </a:rPr>
              <a:t>V1 track, V1.1 endpoint</a:t>
            </a:r>
          </a:p>
        </p:txBody>
      </p:sp>
      <p:sp>
        <p:nvSpPr>
          <p:cNvPr id="9" name="">
            <a:extLst xmlns:a="http://schemas.openxmlformats.org/drawingml/2006/main">
              <a:ext uri="{FF2B5EF4-FFF2-40B4-BE49-F238E27FC236}">
                <a16:creationId xmlns:a16="http://schemas.microsoft.com/office/drawing/2014/main" id="{7B1FECC5-3707-4181-A14E-6B86DFE1D36E}"/>
              </a:ext>
            </a:extLst>
          </p:cNvPr>
          <p:cNvSpPr>
            <a:spLocks xmlns:a="http://schemas.openxmlformats.org/drawingml/2006/main" noGrp="1"/>
          </p:cNvSpPr>
          <p:nvPr/>
        </p:nvSpPr>
        <p:spPr>
          <a:xfrm xmlns:a="http://schemas.openxmlformats.org/drawingml/2006/main">
            <a:off x="6276975" y="4000500"/>
            <a:ext cx="527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23C35"/>
                </a:solidFill>
                <a:latin typeface="Arial"/>
                <a:ea typeface="Arial"/>
                <a:cs typeface="Arial"/>
              </a:defRPr>
            </a:pPr>
            <a:r>
              <a:rPr sz="2175" b="0">
                <a:solidFill>
                  <a:srgbClr val="123C35"/>
                </a:solidFill>
                <a:latin typeface="Arial"/>
                <a:ea typeface="Arial"/>
                <a:cs typeface="Arial"/>
              </a:rPr>
              <a:t>A versioned network + SDK manifest</a:t>
            </a:r>
          </a:p>
        </p:txBody>
      </p:sp>
      <p:sp>
        <p:nvSpPr>
          <p:cNvPr id="10" name="">
            <a:extLst xmlns:a="http://schemas.openxmlformats.org/drawingml/2006/main">
              <a:ext uri="{FF2B5EF4-FFF2-40B4-BE49-F238E27FC236}">
                <a16:creationId xmlns:a16="http://schemas.microsoft.com/office/drawing/2014/main" id="{965EAC62-CFF6-4911-9264-9EFC09A5E35F}"/>
              </a:ext>
            </a:extLst>
          </p:cNvPr>
          <p:cNvSpPr>
            <a:spLocks xmlns:a="http://schemas.openxmlformats.org/drawingml/2006/main" noGrp="1"/>
          </p:cNvSpPr>
          <p:nvPr/>
        </p:nvSpPr>
        <p:spPr>
          <a:xfrm xmlns:a="http://schemas.openxmlformats.org/drawingml/2006/main">
            <a:off x="609600" y="5076825"/>
            <a:ext cx="50101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23C35"/>
                </a:solidFill>
                <a:latin typeface="Arial"/>
                <a:ea typeface="Arial"/>
                <a:cs typeface="Arial"/>
              </a:defRPr>
            </a:pPr>
            <a:r>
              <a:rPr sz="2475" b="1">
                <a:solidFill>
                  <a:srgbClr val="123C35"/>
                </a:solidFill>
                <a:latin typeface="Arial"/>
                <a:ea typeface="Arial"/>
                <a:cs typeface="Arial"/>
              </a:rPr>
              <a:t>Hosted API failed at startup</a:t>
            </a:r>
          </a:p>
        </p:txBody>
      </p:sp>
      <p:sp>
        <p:nvSpPr>
          <p:cNvPr id="11" name="">
            <a:extLst xmlns:a="http://schemas.openxmlformats.org/drawingml/2006/main">
              <a:ext uri="{FF2B5EF4-FFF2-40B4-BE49-F238E27FC236}">
                <a16:creationId xmlns:a16="http://schemas.microsoft.com/office/drawing/2014/main" id="{0078BF49-B58E-4BBC-A2A1-91396AF900B9}"/>
              </a:ext>
            </a:extLst>
          </p:cNvPr>
          <p:cNvSpPr>
            <a:spLocks xmlns:a="http://schemas.openxmlformats.org/drawingml/2006/main" noGrp="1"/>
          </p:cNvSpPr>
          <p:nvPr/>
        </p:nvSpPr>
        <p:spPr>
          <a:xfrm xmlns:a="http://schemas.openxmlformats.org/drawingml/2006/main">
            <a:off x="6276975" y="5105400"/>
            <a:ext cx="52768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23C35"/>
                </a:solidFill>
                <a:latin typeface="Arial"/>
                <a:ea typeface="Arial"/>
                <a:cs typeface="Arial"/>
              </a:defRPr>
            </a:pPr>
            <a:r>
              <a:rPr sz="2175" b="0">
                <a:solidFill>
                  <a:srgbClr val="123C35"/>
                </a:solidFill>
                <a:latin typeface="Arial"/>
                <a:ea typeface="Arial"/>
                <a:cs typeface="Arial"/>
              </a:rPr>
              <a:t>A serverless startup test in the starter</a:t>
            </a:r>
          </a:p>
        </p:txBody>
      </p:sp>
      <p:sp>
        <p:nvSpPr>
          <p:cNvPr id="12" name="">
            <a:extLst xmlns:a="http://schemas.openxmlformats.org/drawingml/2006/main">
              <a:ext uri="{FF2B5EF4-FFF2-40B4-BE49-F238E27FC236}">
                <a16:creationId xmlns:a16="http://schemas.microsoft.com/office/drawing/2014/main" id="{950863C4-A5D1-4E2F-9487-710AB5A66FA0}"/>
              </a:ext>
            </a:extLst>
          </p:cNvPr>
          <p:cNvSpPr>
            <a:spLocks xmlns:a="http://schemas.openxmlformats.org/drawingml/2006/main" noGrp="1"/>
          </p:cNvSpPr>
          <p:nvPr/>
        </p:nvSpPr>
        <p:spPr>
          <a:xfrm xmlns:a="http://schemas.openxmlformats.org/drawingml/2006/main">
            <a:off x="609600" y="61722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Our observed friction: integration, coordination and state recovery.</a:t>
            </a:r>
          </a:p>
        </p:txBody>
      </p:sp>
    </p:spTree>
    <p:extLst>
      <p:ext uri="{BB962C8B-B14F-4D97-AF65-F5344CB8AC3E}">
        <p14:creationId xmlns:p14="http://schemas.microsoft.com/office/powerpoint/2010/main" val="1456321981"/>
      </p:ext>
    </p:extLst>
  </p:cSld>
</p:sld>
</file>

<file path=ppt/slides/slide7.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5B62D2-ECB1-4E96-A828-99EE68B6EE40}"/>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AD3A6B09-0A85-433E-904C-BD3CF0A21D91}"/>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ED332A54-B63F-449D-96EF-AE173F486942}"/>
              </a:ext>
            </a:extLst>
          </p:cNvPr>
          <p:cNvSpPr>
            <a:spLocks xmlns:a="http://schemas.openxmlformats.org/drawingml/2006/main" noGrp="1"/>
          </p:cNvSpPr>
          <p:nvPr/>
        </p:nvSpPr>
        <p:spPr>
          <a:xfrm xmlns:a="http://schemas.openxmlformats.org/drawingml/2006/main">
            <a:off x="609600" y="172402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A reusable evidence adapter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for native lending.</a:t>
            </a:r>
          </a:p>
        </p:txBody>
      </p:sp>
      <p:sp>
        <p:nvSpPr>
          <p:cNvPr id="4" name="">
            <a:extLst xmlns:a="http://schemas.openxmlformats.org/drawingml/2006/main">
              <a:ext uri="{FF2B5EF4-FFF2-40B4-BE49-F238E27FC236}">
                <a16:creationId xmlns:a16="http://schemas.microsoft.com/office/drawing/2014/main" id="{D181AF82-0F48-407F-A21C-FC95E43282DC}"/>
              </a:ext>
            </a:extLst>
          </p:cNvPr>
          <p:cNvSpPr>
            <a:spLocks xmlns:a="http://schemas.openxmlformats.org/drawingml/2006/main" noGrp="1"/>
          </p:cNvSpPr>
          <p:nvPr/>
        </p:nvSpPr>
        <p:spPr>
          <a:xfrm xmlns:a="http://schemas.openxmlformats.org/drawingml/2006/main">
            <a:off x="609600" y="401002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XRPL settles the loan.</a:t>
            </a:r>
          </a:p>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Recognitium preserves the commitment.</a:t>
            </a:r>
          </a:p>
        </p:txBody>
      </p:sp>
      <p:sp>
        <p:nvSpPr>
          <p:cNvPr id="5" name="">
            <a:extLst xmlns:a="http://schemas.openxmlformats.org/drawingml/2006/main">
              <a:ext uri="{FF2B5EF4-FFF2-40B4-BE49-F238E27FC236}">
                <a16:creationId xmlns:a16="http://schemas.microsoft.com/office/drawing/2014/main" id="{7FFBEE67-1115-45F8-9E80-631F0BB35CA1}"/>
              </a:ext>
            </a:extLst>
          </p:cNvPr>
          <p:cNvSpPr>
            <a:spLocks xmlns:a="http://schemas.openxmlformats.org/drawingml/2006/main" noGrp="1"/>
          </p:cNvSpPr>
          <p:nvPr/>
        </p:nvSpPr>
        <p:spPr>
          <a:xfrm xmlns:a="http://schemas.openxmlformats.org/drawingml/2006/main">
            <a:off x="609600"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Next proof: one fresh matched cycle through the same interface.</a:t>
            </a:r>
          </a:p>
        </p:txBody>
      </p:sp>
      <p:sp>
        <p:nvSpPr>
          <p:cNvPr id="6" name="">
            <a:extLst xmlns:a="http://schemas.openxmlformats.org/drawingml/2006/main">
              <a:ext uri="{FF2B5EF4-FFF2-40B4-BE49-F238E27FC236}">
                <a16:creationId xmlns:a16="http://schemas.microsoft.com/office/drawing/2014/main" id="{9AD5F732-EF89-48D8-B5DB-8B498D2E2240}"/>
              </a:ext>
            </a:extLst>
          </p:cNvPr>
          <p:cNvSpPr>
            <a:spLocks xmlns:a="http://schemas.openxmlformats.org/drawingml/2006/main" noGrp="1"/>
          </p:cNvSpPr>
          <p:nvPr/>
        </p:nvSpPr>
        <p:spPr>
          <a:xfrm xmlns:a="http://schemas.openxmlformats.org/drawingml/2006/main">
            <a:off x="609600" y="62865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1E6DD"/>
                </a:solidFill>
                <a:latin typeface="Arial"/>
                <a:ea typeface="Arial"/>
                <a:cs typeface="Arial"/>
              </a:defRPr>
            </a:pPr>
            <a:r>
              <a:rPr sz="1575" b="0">
                <a:solidFill>
                  <a:srgbClr val="D1E6DD"/>
                </a:solidFill>
                <a:latin typeface="Arial"/>
                <a:ea typeface="Arial"/>
                <a:cs typeface="Arial"/>
              </a:rPr>
              <a:t>Public code: github.com/jninom8/recognitium-xrpl-hackathon</a:t>
            </a:r>
          </a:p>
        </p:txBody>
      </p:sp>
    </p:spTree>
    <p:extLst>
      <p:ext uri="{BB962C8B-B14F-4D97-AF65-F5344CB8AC3E}">
        <p14:creationId xmlns:p14="http://schemas.microsoft.com/office/powerpoint/2010/main" val="14245914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2026-09-13T10:41:46.6160000Z</dcterms:created>
  <dcterms:modified xsi:type="dcterms:W3CDTF">2026-09-13T10:41:46.6160000Z</dcterms:modified>
</coreProperties>
</file>