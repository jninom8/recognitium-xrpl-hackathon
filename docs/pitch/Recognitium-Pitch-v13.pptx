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f18e71d30604112" /><Relationship Type="http://schemas.openxmlformats.org/officeDocument/2006/relationships/extended-properties" Target="/docProps/app.xml" Id="Ra63a2b2d574a448d" /><Relationship Type="http://schemas.openxmlformats.org/officeDocument/2006/relationships/officeDocument" Target="/ppt/presentation.xml" Id="Rbebe298247b0457f" /></Relationships>
</file>

<file path=ppt/presentation.xml><?xml version="1.0" encoding="utf-8"?>
<p:presentation xmlns:p="http://schemas.openxmlformats.org/presentationml/2006/main">
  <p:sldMasterIdLst>
    <p:sldMasterId xmlns:r="http://schemas.openxmlformats.org/officeDocument/2006/relationships" id="2147483648" r:id="Rf80364bafc3542f6"/>
  </p:sldMasterIdLst>
  <p:notesMasterIdLst>
    <p:notesMasterId xmlns:r="http://schemas.openxmlformats.org/officeDocument/2006/relationships" r:id="R5f445df140d04366"/>
  </p:notesMasterIdLst>
  <p:sldIdLst>
    <p:sldId xmlns:r="http://schemas.openxmlformats.org/officeDocument/2006/relationships" id="256" r:id="Rc9b509dfc42b4ae9"/>
    <p:sldId xmlns:r="http://schemas.openxmlformats.org/officeDocument/2006/relationships" id="257" r:id="Rde19e12488e04b26"/>
    <p:sldId xmlns:r="http://schemas.openxmlformats.org/officeDocument/2006/relationships" id="258" r:id="R2cd8d871d4fd4e07"/>
    <p:sldId xmlns:r="http://schemas.openxmlformats.org/officeDocument/2006/relationships" id="259" r:id="Rd87ab92fe23d48e9"/>
    <p:sldId xmlns:r="http://schemas.openxmlformats.org/officeDocument/2006/relationships" id="260" r:id="Rbcea7e22e3664fca"/>
    <p:sldId xmlns:r="http://schemas.openxmlformats.org/officeDocument/2006/relationships" id="261" r:id="Rec8014ef5a6c4fd7"/>
    <p:sldId xmlns:r="http://schemas.openxmlformats.org/officeDocument/2006/relationships" id="262" r:id="R7ce3182ca74d4feb"/>
    <p:sldId xmlns:r="http://schemas.openxmlformats.org/officeDocument/2006/relationships" id="263" r:id="R4ca34ff554c640ec"/>
    <p:sldId xmlns:r="http://schemas.openxmlformats.org/officeDocument/2006/relationships" id="264" r:id="Rec8bd68a2f064f2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7bae1c17d404d73" /><Relationship Type="http://schemas.openxmlformats.org/officeDocument/2006/relationships/slideMaster" Target="/ppt/slideMasters/slideMaster1.xml" Id="Rf80364bafc3542f6" /><Relationship Type="http://schemas.openxmlformats.org/officeDocument/2006/relationships/notesMaster" Target="/ppt/notesMasters/notesMaster1.xml" Id="R5f445df140d04366" /><Relationship Type="http://schemas.openxmlformats.org/officeDocument/2006/relationships/presProps" Target="/ppt/presProps.xml" Id="R9c3983bdc4bc4d79" /><Relationship Type="http://schemas.openxmlformats.org/officeDocument/2006/relationships/tableStyles" Target="/ppt/tableStyles.xml" Id="R20292028b8024f78" /><Relationship Type="http://schemas.openxmlformats.org/officeDocument/2006/relationships/slide" Target="/ppt/slides/slide1.xml" Id="Rc9b509dfc42b4ae9" /><Relationship Type="http://schemas.openxmlformats.org/officeDocument/2006/relationships/slide" Target="/ppt/slides/slide2.xml" Id="Rde19e12488e04b26" /><Relationship Type="http://schemas.openxmlformats.org/officeDocument/2006/relationships/slide" Target="/ppt/slides/slide3.xml" Id="R2cd8d871d4fd4e07" /><Relationship Type="http://schemas.openxmlformats.org/officeDocument/2006/relationships/slide" Target="/ppt/slides/slide4.xml" Id="Rd87ab92fe23d48e9" /><Relationship Type="http://schemas.openxmlformats.org/officeDocument/2006/relationships/slide" Target="/ppt/slides/slide5.xml" Id="Rbcea7e22e3664fca" /><Relationship Type="http://schemas.openxmlformats.org/officeDocument/2006/relationships/slide" Target="/ppt/slides/slide6.xml" Id="Rec8014ef5a6c4fd7" /><Relationship Type="http://schemas.openxmlformats.org/officeDocument/2006/relationships/slide" Target="/ppt/slides/slide7.xml" Id="R7ce3182ca74d4feb" /><Relationship Type="http://schemas.openxmlformats.org/officeDocument/2006/relationships/slide" Target="/ppt/slides/slide8.xml" Id="R4ca34ff554c640ec" /><Relationship Type="http://schemas.openxmlformats.org/officeDocument/2006/relationships/slide" Target="/ppt/slides/slide9.xml" Id="Rec8bd68a2f064f2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66d07bb649a4c9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9cbc8f4f41d44d3" /><Relationship Type="http://schemas.openxmlformats.org/officeDocument/2006/relationships/notesMaster" Target="/ppt/notesMasters/notesMaster1.xml" Id="R3b85cdcb207c49eb" /></Relationships>
</file>

<file path=ppt/notesSlides/_rels/notesSlide2.xml.rels>&#65279;<?xml version="1.0" encoding="utf-8"?><Relationships xmlns="http://schemas.openxmlformats.org/package/2006/relationships"><Relationship Type="http://schemas.openxmlformats.org/officeDocument/2006/relationships/slide" Target="/ppt/slides/slide2.xml" Id="R57d497ecb44e4632" /><Relationship Type="http://schemas.openxmlformats.org/officeDocument/2006/relationships/notesMaster" Target="/ppt/notesMasters/notesMaster1.xml" Id="Rc09c198788d040d9"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42e8eaf7644981" /><Relationship Type="http://schemas.openxmlformats.org/officeDocument/2006/relationships/notesMaster" Target="/ppt/notesMasters/notesMaster1.xml" Id="R68cdd84f81ed48a0" /></Relationships>
</file>

<file path=ppt/notesSlides/_rels/notesSlide4.xml.rels>&#65279;<?xml version="1.0" encoding="utf-8"?><Relationships xmlns="http://schemas.openxmlformats.org/package/2006/relationships"><Relationship Type="http://schemas.openxmlformats.org/officeDocument/2006/relationships/slide" Target="/ppt/slides/slide4.xml" Id="R8b2a8d3a393e4ba1" /><Relationship Type="http://schemas.openxmlformats.org/officeDocument/2006/relationships/notesMaster" Target="/ppt/notesMasters/notesMaster1.xml" Id="Rb728bb20d44646d7" /></Relationships>
</file>

<file path=ppt/notesSlides/_rels/notesSlide5.xml.rels>&#65279;<?xml version="1.0" encoding="utf-8"?><Relationships xmlns="http://schemas.openxmlformats.org/package/2006/relationships"><Relationship Type="http://schemas.openxmlformats.org/officeDocument/2006/relationships/slide" Target="/ppt/slides/slide5.xml" Id="R5018b6bcee4641a9" /><Relationship Type="http://schemas.openxmlformats.org/officeDocument/2006/relationships/notesMaster" Target="/ppt/notesMasters/notesMaster1.xml" Id="R2e7194b966c243d0" /></Relationships>
</file>

<file path=ppt/notesSlides/_rels/notesSlide6.xml.rels>&#65279;<?xml version="1.0" encoding="utf-8"?><Relationships xmlns="http://schemas.openxmlformats.org/package/2006/relationships"><Relationship Type="http://schemas.openxmlformats.org/officeDocument/2006/relationships/slide" Target="/ppt/slides/slide6.xml" Id="Rdc9c90be1cbb4918" /><Relationship Type="http://schemas.openxmlformats.org/officeDocument/2006/relationships/notesMaster" Target="/ppt/notesMasters/notesMaster1.xml" Id="R25f597d356774ff5" /></Relationships>
</file>

<file path=ppt/notesSlides/_rels/notesSlide7.xml.rels>&#65279;<?xml version="1.0" encoding="utf-8"?><Relationships xmlns="http://schemas.openxmlformats.org/package/2006/relationships"><Relationship Type="http://schemas.openxmlformats.org/officeDocument/2006/relationships/slide" Target="/ppt/slides/slide7.xml" Id="R0da1f54824c54e55" /><Relationship Type="http://schemas.openxmlformats.org/officeDocument/2006/relationships/notesMaster" Target="/ppt/notesMasters/notesMaster1.xml" Id="Rccf89c1f66bd437f" /></Relationships>
</file>

<file path=ppt/notesSlides/_rels/notesSlide8.xml.rels>&#65279;<?xml version="1.0" encoding="utf-8"?><Relationships xmlns="http://schemas.openxmlformats.org/package/2006/relationships"><Relationship Type="http://schemas.openxmlformats.org/officeDocument/2006/relationships/slide" Target="/ppt/slides/slide8.xml" Id="R31f38fa88e9743af" /><Relationship Type="http://schemas.openxmlformats.org/officeDocument/2006/relationships/notesMaster" Target="/ppt/notesMasters/notesMaster1.xml" Id="R453f7331b7464535" /></Relationships>
</file>

<file path=ppt/notesSlides/_rels/notesSlide9.xml.rels>&#65279;<?xml version="1.0" encoding="utf-8"?><Relationships xmlns="http://schemas.openxmlformats.org/package/2006/relationships"><Relationship Type="http://schemas.openxmlformats.org/officeDocument/2006/relationships/slide" Target="/ppt/slides/slide9.xml" Id="R54d010be24c04683" /><Relationship Type="http://schemas.openxmlformats.org/officeDocument/2006/relationships/notesMaster" Target="/ppt/notesMasters/notesMaster1.xml" Id="Rc37045437fee496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Founder-provided pitch vision. The receipts commit fingerprints, not the truth of the underlying facts. Millisecond performance and perpetual availability are not demonstrated guarantees of this hackathon; cryptographic verification and online authority lookup remain distinct.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supplier needs working capital. A lender can provide it. XRPL already gives us the native lending machinery. Recognitium connects the agreement the people approved to the transaction the ledger confirms.</a:t>
            </a:r>
          </a:p>
          <a:p xmlns:a="http://schemas.openxmlformats.org/drawingml/2006/main">
            <a:r>
              <a:t/>
            </a:r>
          </a:p>
          <a:p xmlns:a="http://schemas.openxmlformats.org/drawingml/2006/main">
            <a:r>
              <a:t>This hackathon integration uses a pre-existing classical Recognitium service and AI-assisted development. No QCP hardware claim. Source: https://github.com/jninom8/recognitium-xrpl-hackathon/blob/main/docs/RECOGNITIUM_INTEGRATION.md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interface has three perspectives: Lender, Borrower and Admin. A lender declares availability, a borrower states a need, and the application proposes a match. Both demo roles approve that exact match before the administrator reviews it. The subsequent loan offer needs separate borrower and broker approval. An observed wallet balance does not reserve funds.</a:t>
            </a:r>
          </a:p>
          <a:p xmlns:a="http://schemas.openxmlformats.org/drawingml/2006/main">
            <a:r>
              <a:t/>
            </a:r>
          </a:p>
          <a:p xmlns:a="http://schemas.openxmlformats.org/drawingml/2006/main">
            <a:r>
              <a:t>The match flow has a real Recognitium receipt. The fresh matched native cycle remains pending. The existing completed native loans predate that matching extension. Sources: https://github.com/jninom8/recognitium-xrpl-hackathon/blob/main/evidence/matching-131184ce.json and https://github.com/jninom8/recognitium-xrpl-hackathon/blob/main/docs/BACKEND_REVIEW.md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separate receipt history has a different job from the XRP Ledger. Documents and negotiation records remain outside the public ledger. Recognitium records commitments in its authority history. Our broker verifies an agreement receipt and both people approve the exact terms before the demo wallets co-sign LoanSet. The LoanSet Data field carries the agreement fingerprint.</a:t>
            </a:r>
          </a:p>
          <a:p xmlns:a="http://schemas.openxmlformats.org/drawingml/2006/main">
            <a:r>
              <a:t/>
            </a:r>
          </a:p>
          <a:p xmlns:a="http://schemas.openxmlformats.org/drawingml/2006/main">
            <a:r>
              <a:t>XRPL does not read the Recognitium receipt. Its validators enforce signatures and protocol rules. An execution receipt later links the agreement to the validated transfer. The separate history is a classical evidence service, not another decentralized XRPL consensus network. Every transition can have an evidence record, but this build has not sealed every transition.</a:t>
            </a:r>
          </a:p>
          <a:p xmlns:a="http://schemas.openxmlformats.org/drawingml/2006/main">
            <a:r>
              <a:t/>
            </a:r>
          </a:p>
          <a:p xmlns:a="http://schemas.openxmlformats.org/drawingml/2006/main">
            <a:r>
              <a:t>IVM discovery and receipt issuance are operator-assisted; browser AI drafts requests. The diagram shows the integration boundary, not autonomous AI execution. Sources: https://github.com/jninom8/recognitium-xrpl-hackathon/blob/main/src/xrpl/transactions.ts , https://github.com/jninom8/recognitium-xrpl-hackathon/blob/main/src/requests/service.ts , https://github.com/jninom8/recognitium-xrpl-hackathon/blob/main/docs/RECOGNITIUM_INTEGRATION.md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https://recognitium-xrpl-hackathon.vercel.app/borrow?mode=live&amp;request=request-1708833c-9d9e-4a49-9fe2-6b9284842ecc</a:t>
            </a:r>
          </a:p>
          <a:p xmlns:a="http://schemas.openxmlformats.org/drawingml/2006/main">
            <a:r>
              <a:t/>
            </a:r>
          </a:p>
          <a:p xmlns:a="http://schemas.openxmlformats.org/drawingml/2006/main">
            <a:r>
              <a:t>Say: This is a completed development-network run, not a new transfer happening as I click. Show Transactions &amp; evidence: vault 90024, deposit 90026, broker 90028, cover 90030, funding 90068, repayment 90086 and withdrawal 90092. Then show the native refusal and the agreement and execution receipts. The lender deposited 200 XRP, withdrew 200.000020 XRP and paid a 12-drop withdrawal fee. Twenty drops is gross yield, not net profit after all setup and network fees.</a:t>
            </a:r>
          </a:p>
          <a:p xmlns:a="http://schemas.openxmlformats.org/drawingml/2006/main">
            <a:r>
              <a:t/>
            </a:r>
          </a:p>
          <a:p xmlns:a="http://schemas.openxmlformats.org/drawingml/2006/main">
            <a:r>
              <a:t>For the off-chain match receipt, open Receipts and round 131184CE. That match expired before native execution. Identity preview is synthetic and unsealed. Mentor-endpoint demo attempts are now enabled on network 4001 with V1.1 disclosed. Exact approvals and local signing remain required; a preflight pass is not a new completed loan.</a:t>
            </a:r>
          </a:p>
          <a:p xmlns:a="http://schemas.openxmlformats.org/drawingml/2006/main">
            <a:r>
              <a:t/>
            </a:r>
          </a:p>
          <a:p xmlns:a="http://schemas.openxmlformats.org/drawingml/2006/main">
            <a:r>
              <a:t>Funding hash: CABC51612A0478F935D0C82DF3102124FC2DDC7E7CAACD665BCF37FD836F08FD</a:t>
            </a:r>
          </a:p>
          <a:p xmlns:a="http://schemas.openxmlformats.org/drawingml/2006/main">
            <a:r>
              <a:t>Agreement receipt: DG-e2d41354140a451c855050f148b55da1</a:t>
            </a:r>
          </a:p>
          <a:p xmlns:a="http://schemas.openxmlformats.org/drawingml/2006/main">
            <a:r>
              <a:t>Execution receipt: DG-67bd66978e854f4e8d79d21862723ee4</a:t>
            </a:r>
          </a:p>
          <a:p xmlns:a="http://schemas.openxmlformats.org/drawingml/2006/main">
            <a:r>
              <a:t>Sources: https://github.com/jninom8/recognitium-xrpl-hackathon/blob/main/evidence/ai-request-1708833c.json and https://github.com/jninom8/recognitium-xrpl-hackathon/blob/main/docs/STATUS.md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agent can prepare structured terms, compare the request with availability and carry the commitment between tools. Local hashing detects changed bytes without sending the private document to XRPL. We preserve the human approval boundary because a loan signature creates an obligation.</a:t>
            </a:r>
          </a:p>
          <a:p xmlns:a="http://schemas.openxmlformats.org/drawingml/2006/main">
            <a:r>
              <a:t/>
            </a:r>
          </a:p>
          <a:p xmlns:a="http://schemas.openxmlformats.org/drawingml/2006/main">
            <a:r>
              <a:t>The benefit is separation of responsibilities: the public ledger does not need every negotiation message or identity file. This does not increase XRPL throughput, eliminate verification latency or make receipts prove identity truth. We have not measured a milliseconds-per-receipt performance claim. Verification of Recognitium authority still requires its online record in this build.</a:t>
            </a:r>
          </a:p>
          <a:p xmlns:a="http://schemas.openxmlformats.org/drawingml/2006/main">
            <a:r>
              <a:t/>
            </a:r>
          </a:p>
          <a:p xmlns:a="http://schemas.openxmlformats.org/drawingml/2006/main">
            <a:r>
              <a:t>New native preparation includes a synthetic request-wallet identity commitment. It is not real KYC and no completed native run yet contains this addition. Sources: https://github.com/jninom8/recognitium-xrpl-hackathon/blob/main/src/shared/identity-fixture.ts , https://github.com/jninom8/recognitium-xrpl-hackathon/blob/main/src/server/assistant.ts , https://github.com/jninom8/recognitium-xrpl-hackathon/blob/main/docs/RECOGNITIUM_INTEGRATION.md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limited tests did not identify a break in XRPL cryptography. We did not conduct an independent cryptographic or security audit. We do not claim that quantum computing is the only remaining risk, or that key protection alone makes an application secure. The observed friction concerns integration, coordination and state recovery.</a:t>
            </a:r>
          </a:p>
          <a:p xmlns:a="http://schemas.openxmlformats.org/drawingml/2006/main">
            <a:r>
              <a:t/>
            </a:r>
          </a:p>
          <a:p xmlns:a="http://schemas.openxmlformats.org/drawingml/2006/main">
            <a:r>
              <a:t>First, the event endpoint ports repeatedly timed out while ordinary HTTPS worked. A phone hotspot restored access. That isolates a network-path difference, not a proven diagnosis of congestion or firewall policy. Proposal: provide an HTTP/WebSocket connectivity probe and known-good expected response before faucet setup.</a:t>
            </a:r>
          </a:p>
          <a:p xmlns:a="http://schemas.openxmlformats.org/drawingml/2006/main">
            <a:r>
              <a:t/>
            </a:r>
          </a:p>
          <a:p xmlns:a="http://schemas.openxmlformats.org/drawingml/2006/main">
            <a:r>
              <a:t>Second, the advertised Track 1 endpoint reported LendingProtocolV1_1 enabled, while the closed-ended guide restricts new lending. Earlier mentor-guided open-ended cycles succeeded. The founder has re-enabled event-specific demo attempts on the mentor endpoint. We disclose V1.1 and let XRPL validate each transaction. Proposal: publish a versioned endpoint, enabled amendment list and compatible SDK matrix with the event track.</a:t>
            </a:r>
          </a:p>
          <a:p xmlns:a="http://schemas.openxmlformats.org/drawingml/2006/main">
            <a:r>
              <a:t/>
            </a:r>
          </a:p>
          <a:p xmlns:a="http://schemas.openxmlformats.org/drawingml/2006/main">
            <a:r>
              <a:t>Third, our Vercel build succeeded but API startup failed with ERR_REQUIRE_ESM involving @xrplf/isomorphic and @noble/hashes. We removed unnecessary XRPL SDK imports from hosted receipt/address code and added a startup regression check. This was our integration failure, not a protocol bug. Proposal: include a serverless smoke test and minimal SDK-free hashing example.</a:t>
            </a:r>
          </a:p>
          <a:p xmlns:a="http://schemas.openxmlformats.org/drawingml/2006/main">
            <a:r>
              <a:t/>
            </a:r>
          </a:p>
          <a:p xmlns:a="http://schemas.openxmlformats.org/drawingml/2006/main">
            <a:r>
              <a:t>Project hook delivery includes historical automatic events and explicitly submitted reflections. Automatic capture in this projectless task is unconfirmed. The participant-written manual report is a separate mandatory deliverable; these slides do not replace it. Sources: https://github.com/jninom8/recognitium-xrpl-hackathon/blob/main/DEVEX_LOG.md , https://github.com/jninom8/recognitium-xrpl-hackathon/blob/main/docs/DEVELOPER_JOURNEY.md , https://github.com/jninom8/recognitium-xrpl-hackathon/blob/main/evidence/environment-2026-09-13.json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want every XLS-65/66 builder to be able to connect a private commitment to a native loan without rebuilding the evidence and recovery layer. Our public repository contains the adapter and repeatable verification examples. This is our proposed missing developer tool, not a claim that no other evidence system exists.</a:t>
            </a:r>
          </a:p>
          <a:p xmlns:a="http://schemas.openxmlformats.org/drawingml/2006/main">
            <a:r>
              <a:t/>
            </a:r>
          </a:p>
          <a:p xmlns:a="http://schemas.openxmlformats.org/drawingml/2006/main">
            <a:r>
              <a:t>The next proof is a fresh availability-matched loan with exact approvals, funding, repayment and return, with fresh exact approvals and local signing. The longer-term direction is an agent-friendly interface with authenticated approval and a sealed record for every meaningful agreement transition. Today those are boundaries and next steps, not completed features.</a:t>
            </a:r>
          </a:p>
          <a:p xmlns:a="http://schemas.openxmlformats.org/drawingml/2006/main">
            <a:r>
              <a:t/>
            </a:r>
          </a:p>
          <a:p xmlns:a="http://schemas.openxmlformats.org/drawingml/2006/main">
            <a:r>
              <a:t>Sources: https://github.com/jninom8/recognitium-xrpl-hackathon/blob/main/src/requests/service.ts , https://github.com/jninom8/recognitium-xrpl-hackathon/blob/main/scripts/verify-bundle.ts , https://github.com/jninom8/recognitium-xrpl-hackathon/blob/main/docs/NATIVE_BRIDGE.md</a:t>
            </a:r>
          </a:p>
          <a:p xmlns:a="http://schemas.openxmlformats.org/drawingml/2006/main">
            <a:r>
              <a:t/>
            </a:r>
          </a:p>
          <a:p xmlns:a="http://schemas.openxmlformats.org/drawingml/2006/main">
            <a:r>
              <a:t>Q&amp;A reminders: the current Recognitium engine is classical; a receipt is not KYC; a hash is not ledger validation; no measured XRPL throughput improvement; no identity documents on chain; existing synthetic fixtures stay labelled; no claim every transition already has a receipt.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Kocherlakota studies economic environments without commitment. In his model, allocations achievable with money can also be achieved with memory; the converse depends on the environment. This does not prove that Recognitium is perfect memory, replaces money or creates trustworthy credit automatically. His paper does not establish any guarantee for our application. Our closing analogy is that payment history and evidence of the agreement should remain linked. Recognitium records commitments through a classical authority service, not a complete, unerasable public history of every real-world event. The agreement itself remains private. Source: https://www.minneapolisfed.org/research/staff-reports/money-is-memory and https://doi.org/10.1006/jeth.1997.2357 . Keep slides 7 and 8 together within the final thirty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62e98ae30e5441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a3a5a20e5904352" /><Relationship Type="http://schemas.openxmlformats.org/officeDocument/2006/relationships/slideLayout" Target="/ppt/slideLayouts/slideLayout1.xml" Id="R43374852b5e447e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374852b5e447e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8903b1acea34994" /><Relationship Type="http://schemas.openxmlformats.org/officeDocument/2006/relationships/image" Target="/ppt/media/image.png" Id="R62ad39ac492d4dcc" /><Relationship Type="http://schemas.openxmlformats.org/officeDocument/2006/relationships/notesSlide" Target="/ppt/notesSlides/notesSlide1.xml" Id="R8121a65792be4e2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c164359821e4914" /><Relationship Type="http://schemas.openxmlformats.org/officeDocument/2006/relationships/notesSlide" Target="/ppt/notesSlides/notesSlide2.xml" Id="R62280319c091475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3c2fbeab6fb4215" /><Relationship Type="http://schemas.openxmlformats.org/officeDocument/2006/relationships/notesSlide" Target="/ppt/notesSlides/notesSlide3.xml" Id="R7feb700431d54ac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80cf208cde240a0" /><Relationship Type="http://schemas.openxmlformats.org/officeDocument/2006/relationships/notesSlide" Target="/ppt/notesSlides/notesSlide4.xml" Id="R9ff0fc0d36e242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9e0e20230a146f9" /><Relationship Type="http://schemas.openxmlformats.org/officeDocument/2006/relationships/notesSlide" Target="/ppt/notesSlides/notesSlide5.xml" Id="R6a215c54bf954eb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0f36d97615b41ef" /><Relationship Type="http://schemas.openxmlformats.org/officeDocument/2006/relationships/notesSlide" Target="/ppt/notesSlides/notesSlide6.xml" Id="Rf430ee94515e477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bae112e83a04d01" /><Relationship Type="http://schemas.openxmlformats.org/officeDocument/2006/relationships/notesSlide" Target="/ppt/notesSlides/notesSlide7.xml" Id="R1b07ef00d1b54fa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33a32103c454d80" /><Relationship Type="http://schemas.openxmlformats.org/officeDocument/2006/relationships/notesSlide" Target="/ppt/notesSlides/notesSlide8.xml" Id="R6cf20a8444944f4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d78703d25334fe0" /><Relationship Type="http://schemas.openxmlformats.org/officeDocument/2006/relationships/notesSlide" Target="/ppt/notesSlides/notesSlide9.xml" Id="Rccc853717c2c480a" /></Relationships>
</file>

<file path=ppt/slides/slide1.xml><?xml version="1.0" encoding="utf-8"?>
<p:sld xmlns:p="http://schemas.openxmlformats.org/presentationml/2006/main">
  <p:cSld>
    <p:bg>
      <p:bgPr>
        <a:solidFill xmlns:a="http://schemas.openxmlformats.org/drawingml/2006/main">
          <a:srgbClr val="123C3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E262990-AD83-4264-98F0-A0FE2C46252F}"/>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90A0C23E-E6DC-4BB7-9278-24DD733B828B}"/>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CD5C7"/>
                </a:solidFill>
                <a:latin typeface="Arial"/>
                <a:ea typeface="Arial"/>
                <a:cs typeface="Arial"/>
              </a:defRPr>
            </a:pPr>
            <a:r>
              <a:rPr sz="1500" b="0">
                <a:solidFill>
                  <a:srgbClr val="ACD5C7"/>
                </a:solidFill>
                <a:latin typeface="Arial"/>
                <a:ea typeface="Arial"/>
                <a:cs typeface="Arial"/>
              </a:rPr>
              <a:t>00</a:t>
            </a:r>
          </a:p>
        </p:txBody>
      </p:sp>
      <p:sp>
        <p:nvSpPr>
          <p:cNvPr id="3" name="">
            <a:extLst xmlns:a="http://schemas.openxmlformats.org/drawingml/2006/main">
              <a:ext uri="{FF2B5EF4-FFF2-40B4-BE49-F238E27FC236}">
                <a16:creationId xmlns:a16="http://schemas.microsoft.com/office/drawing/2014/main" id="{7C33B7DF-0052-4355-909A-82A5F1C01C4A}"/>
              </a:ext>
            </a:extLst>
          </p:cNvPr>
          <p:cNvSpPr>
            <a:spLocks xmlns:a="http://schemas.openxmlformats.org/drawingml/2006/main" noGrp="1"/>
          </p:cNvSpPr>
          <p:nvPr/>
        </p:nvSpPr>
        <p:spPr>
          <a:xfrm xmlns:a="http://schemas.openxmlformats.org/drawingml/2006/main">
            <a:off x="8839200" y="2514600"/>
            <a:ext cx="2952750" cy="3714750"/>
          </a:xfrm>
          <a:prstGeom xmlns:a="http://schemas.openxmlformats.org/drawingml/2006/main" prst="ellipse">
            <a:avLst/>
          </a:prstGeom>
          <a:solidFill xmlns:a="http://schemas.openxmlformats.org/drawingml/2006/main">
            <a:srgbClr val="050707"/>
          </a:solidFill>
          <a:ln xmlns:a="http://schemas.openxmlformats.org/drawingml/2006/main" w="0">
            <a:no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2ad39ac492d4dcc"/>
          <a:stretch xmlns:a="http://schemas.openxmlformats.org/drawingml/2006/main"/>
        </p:blipFill>
        <p:spPr>
          <a:xfrm xmlns:a="http://schemas.openxmlformats.org/drawingml/2006/main">
            <a:off x="9096375" y="3257550"/>
            <a:ext cx="2333625" cy="23336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09A4039-EF1C-432C-B673-91B7C9924543}"/>
              </a:ext>
            </a:extLst>
          </p:cNvPr>
          <p:cNvSpPr>
            <a:spLocks xmlns:a="http://schemas.openxmlformats.org/drawingml/2006/main" noGrp="1"/>
          </p:cNvSpPr>
          <p:nvPr/>
        </p:nvSpPr>
        <p:spPr>
          <a:xfrm xmlns:a="http://schemas.openxmlformats.org/drawingml/2006/main">
            <a:off x="609600" y="155257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i="1">
                <a:solidFill>
                  <a:srgbClr val="ADE0C8"/>
                </a:solidFill>
                <a:latin typeface="Arial"/>
                <a:ea typeface="Arial"/>
                <a:cs typeface="Arial"/>
              </a:defRPr>
            </a:pPr>
            <a:r>
              <a:rPr sz="2325" b="0" i="1">
                <a:solidFill>
                  <a:srgbClr val="ADE0C8"/>
                </a:solidFill>
                <a:latin typeface="Arial"/>
                <a:ea typeface="Arial"/>
                <a:cs typeface="Arial"/>
              </a:rPr>
              <a:t>We make a private fact provable later, without revealing it,</a:t>
            </a:r>
          </a:p>
          <a:p xmlns:a="http://schemas.openxmlformats.org/drawingml/2006/main">
            <a:pPr>
              <a:defRPr sz="2325" b="0" i="1">
                <a:solidFill>
                  <a:srgbClr val="ADE0C8"/>
                </a:solidFill>
                <a:latin typeface="Arial"/>
                <a:ea typeface="Arial"/>
                <a:cs typeface="Arial"/>
              </a:defRPr>
            </a:pPr>
            <a:r>
              <a:rPr sz="2325" b="0" i="1">
                <a:solidFill>
                  <a:srgbClr val="ADE0C8"/>
                </a:solidFill>
                <a:latin typeface="Arial"/>
                <a:ea typeface="Arial"/>
                <a:cs typeface="Arial"/>
              </a:rPr>
              <a:t>for a cent, in milliseconds, by anyone, forever.</a:t>
            </a:r>
          </a:p>
        </p:txBody>
      </p:sp>
      <p:sp>
        <p:nvSpPr>
          <p:cNvPr id="6" name="">
            <a:extLst xmlns:a="http://schemas.openxmlformats.org/drawingml/2006/main">
              <a:ext uri="{FF2B5EF4-FFF2-40B4-BE49-F238E27FC236}">
                <a16:creationId xmlns:a16="http://schemas.microsoft.com/office/drawing/2014/main" id="{FE7D1DD8-94B4-4F39-B5C8-0478713DA760}"/>
              </a:ext>
            </a:extLst>
          </p:cNvPr>
          <p:cNvSpPr>
            <a:spLocks xmlns:a="http://schemas.openxmlformats.org/drawingml/2006/main" noGrp="1"/>
          </p:cNvSpPr>
          <p:nvPr/>
        </p:nvSpPr>
        <p:spPr>
          <a:xfrm xmlns:a="http://schemas.openxmlformats.org/drawingml/2006/main">
            <a:off x="609600" y="3171825"/>
            <a:ext cx="833437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“XRPL settles the money,</a:t>
            </a:r>
          </a:p>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Recognitium settles the facts</a:t>
            </a:r>
          </a:p>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between that process.”</a:t>
            </a:r>
          </a:p>
        </p:txBody>
      </p:sp>
    </p:spTree>
    <p:extLst>
      <p:ext uri="{BB962C8B-B14F-4D97-AF65-F5344CB8AC3E}">
        <p14:creationId xmlns:p14="http://schemas.microsoft.com/office/powerpoint/2010/main" val="359995134"/>
      </p:ext>
    </p:extLst>
  </p:cSld>
</p:sld>
</file>

<file path=ppt/slides/slide2.xml><?xml version="1.0" encoding="utf-8"?>
<p:sld xmlns:p="http://schemas.openxmlformats.org/presentationml/2006/main">
  <p:cSld>
    <p:bg>
      <p:bgPr>
        <a:solidFill xmlns:a="http://schemas.openxmlformats.org/drawingml/2006/main">
          <a:srgbClr val="123C3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29933C5-549E-4A40-A152-6D66BC3F5DD9}"/>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1A4C2F7A-DB0B-41B9-B51C-C4E7D2556E82}"/>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CD5C7"/>
                </a:solidFill>
                <a:latin typeface="Arial"/>
                <a:ea typeface="Arial"/>
                <a:cs typeface="Arial"/>
              </a:defRPr>
            </a:pPr>
            <a:r>
              <a:rPr sz="1500" b="0">
                <a:solidFill>
                  <a:srgbClr val="ACD5C7"/>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BCF76CA4-9738-4687-8A76-6CCA97A89BFE}"/>
              </a:ext>
            </a:extLst>
          </p:cNvPr>
          <p:cNvSpPr>
            <a:spLocks xmlns:a="http://schemas.openxmlformats.org/drawingml/2006/main" noGrp="1"/>
          </p:cNvSpPr>
          <p:nvPr/>
        </p:nvSpPr>
        <p:spPr>
          <a:xfrm xmlns:a="http://schemas.openxmlformats.org/drawingml/2006/main">
            <a:off x="609600" y="1771650"/>
            <a:ext cx="109537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The agreement has a history.</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The payment has a ledger.</a:t>
            </a:r>
          </a:p>
        </p:txBody>
      </p:sp>
      <p:sp>
        <p:nvSpPr>
          <p:cNvPr id="4" name="">
            <a:extLst xmlns:a="http://schemas.openxmlformats.org/drawingml/2006/main">
              <a:ext uri="{FF2B5EF4-FFF2-40B4-BE49-F238E27FC236}">
                <a16:creationId xmlns:a16="http://schemas.microsoft.com/office/drawing/2014/main" id="{118EF538-D945-4705-83E6-56F9068CB1B5}"/>
              </a:ext>
            </a:extLst>
          </p:cNvPr>
          <p:cNvSpPr>
            <a:spLocks xmlns:a="http://schemas.openxmlformats.org/drawingml/2006/main" noGrp="1"/>
          </p:cNvSpPr>
          <p:nvPr/>
        </p:nvSpPr>
        <p:spPr>
          <a:xfrm xmlns:a="http://schemas.openxmlformats.org/drawingml/2006/main">
            <a:off x="609600" y="4314825"/>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ADE0C8"/>
                </a:solidFill>
                <a:latin typeface="Arial"/>
                <a:ea typeface="Arial"/>
                <a:cs typeface="Arial"/>
              </a:defRPr>
            </a:pPr>
            <a:r>
              <a:rPr sz="3150" b="0">
                <a:solidFill>
                  <a:srgbClr val="ADE0C8"/>
                </a:solidFill>
                <a:latin typeface="Arial"/>
                <a:ea typeface="Arial"/>
                <a:cs typeface="Arial"/>
              </a:rPr>
              <a:t>Recognitium connects them.</a:t>
            </a:r>
          </a:p>
        </p:txBody>
      </p:sp>
      <p:sp>
        <p:nvSpPr>
          <p:cNvPr id="5" name="">
            <a:extLst xmlns:a="http://schemas.openxmlformats.org/drawingml/2006/main">
              <a:ext uri="{FF2B5EF4-FFF2-40B4-BE49-F238E27FC236}">
                <a16:creationId xmlns:a16="http://schemas.microsoft.com/office/drawing/2014/main" id="{056EF5BD-7447-47C5-A297-2C995C8F9505}"/>
              </a:ext>
            </a:extLst>
          </p:cNvPr>
          <p:cNvSpPr>
            <a:spLocks xmlns:a="http://schemas.openxmlformats.org/drawingml/2006/main" noGrp="1"/>
          </p:cNvSpPr>
          <p:nvPr/>
        </p:nvSpPr>
        <p:spPr>
          <a:xfrm xmlns:a="http://schemas.openxmlformats.org/drawingml/2006/main">
            <a:off x="609600" y="59245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1E6DD"/>
                </a:solidFill>
                <a:latin typeface="Arial"/>
                <a:ea typeface="Arial"/>
                <a:cs typeface="Arial"/>
              </a:defRPr>
            </a:pPr>
            <a:r>
              <a:rPr sz="1800" b="0">
                <a:solidFill>
                  <a:srgbClr val="D1E6DD"/>
                </a:solidFill>
                <a:latin typeface="Arial"/>
                <a:ea typeface="Arial"/>
                <a:cs typeface="Arial"/>
              </a:rPr>
              <a:t>Track 1 Vanilla / XLS-65 vaults and shares / XLS-66 lending</a:t>
            </a:r>
          </a:p>
        </p:txBody>
      </p:sp>
    </p:spTree>
    <p:extLst>
      <p:ext uri="{BB962C8B-B14F-4D97-AF65-F5344CB8AC3E}">
        <p14:creationId xmlns:p14="http://schemas.microsoft.com/office/powerpoint/2010/main" val="473400311"/>
      </p:ext>
    </p:extLst>
  </p:cSld>
</p:sld>
</file>

<file path=ppt/slides/slide3.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893C822-7FE3-40F1-A5FD-F093037C07D7}"/>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7E9C903B-B01B-4F20-BB88-316CC36155E6}"/>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77CFFF1D-B0BA-471E-AACA-D54DB509B8A4}"/>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A loan starts before the money moves</a:t>
            </a:r>
          </a:p>
        </p:txBody>
      </p:sp>
      <p:sp>
        <p:nvSpPr>
          <p:cNvPr id="4" name="">
            <a:extLst xmlns:a="http://schemas.openxmlformats.org/drawingml/2006/main">
              <a:ext uri="{FF2B5EF4-FFF2-40B4-BE49-F238E27FC236}">
                <a16:creationId xmlns:a16="http://schemas.microsoft.com/office/drawing/2014/main" id="{7FDA9BD2-4CEA-4D61-9F32-6C7F784CAEBD}"/>
              </a:ext>
            </a:extLst>
          </p:cNvPr>
          <p:cNvSpPr>
            <a:spLocks xmlns:a="http://schemas.openxmlformats.org/drawingml/2006/main" noGrp="1"/>
          </p:cNvSpPr>
          <p:nvPr/>
        </p:nvSpPr>
        <p:spPr>
          <a:xfrm xmlns:a="http://schemas.openxmlformats.org/drawingml/2006/main">
            <a:off x="609600" y="2305050"/>
            <a:ext cx="5810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C35"/>
                </a:solidFill>
                <a:latin typeface="Arial"/>
                <a:ea typeface="Arial"/>
                <a:cs typeface="Arial"/>
              </a:defRPr>
            </a:pPr>
            <a:r>
              <a:rPr sz="3300" b="1">
                <a:solidFill>
                  <a:srgbClr val="123C35"/>
                </a:solidFill>
                <a:latin typeface="Arial"/>
                <a:ea typeface="Arial"/>
                <a:cs typeface="Arial"/>
              </a:rPr>
              <a:t>A supplier needs funding</a:t>
            </a:r>
          </a:p>
          <a:p xmlns:a="http://schemas.openxmlformats.org/drawingml/2006/main">
            <a:pPr>
              <a:defRPr sz="3300" b="1">
                <a:solidFill>
                  <a:srgbClr val="123C35"/>
                </a:solidFill>
                <a:latin typeface="Arial"/>
                <a:ea typeface="Arial"/>
                <a:cs typeface="Arial"/>
              </a:defRPr>
            </a:pPr>
            <a:r>
              <a:rPr sz="3300" b="1">
                <a:solidFill>
                  <a:srgbClr val="123C35"/>
                </a:solidFill>
                <a:latin typeface="Arial"/>
                <a:ea typeface="Arial"/>
                <a:cs typeface="Arial"/>
              </a:rPr>
              <a:t>for its next order.</a:t>
            </a:r>
          </a:p>
        </p:txBody>
      </p:sp>
      <p:sp>
        <p:nvSpPr>
          <p:cNvPr id="5" name="">
            <a:extLst xmlns:a="http://schemas.openxmlformats.org/drawingml/2006/main">
              <a:ext uri="{FF2B5EF4-FFF2-40B4-BE49-F238E27FC236}">
                <a16:creationId xmlns:a16="http://schemas.microsoft.com/office/drawing/2014/main" id="{6129D0CD-F49F-400C-8BAA-796B2F5801E1}"/>
              </a:ext>
            </a:extLst>
          </p:cNvPr>
          <p:cNvSpPr>
            <a:spLocks xmlns:a="http://schemas.openxmlformats.org/drawingml/2006/main" noGrp="1"/>
          </p:cNvSpPr>
          <p:nvPr/>
        </p:nvSpPr>
        <p:spPr>
          <a:xfrm xmlns:a="http://schemas.openxmlformats.org/drawingml/2006/main">
            <a:off x="7086600" y="2324100"/>
            <a:ext cx="44005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526862"/>
                </a:solidFill>
                <a:latin typeface="Arial"/>
                <a:ea typeface="Arial"/>
                <a:cs typeface="Arial"/>
              </a:defRPr>
            </a:pPr>
            <a:r>
              <a:rPr sz="2325" b="0">
                <a:solidFill>
                  <a:srgbClr val="526862"/>
                </a:solidFill>
                <a:latin typeface="Arial"/>
                <a:ea typeface="Arial"/>
                <a:cs typeface="Arial"/>
              </a:rPr>
              <a:t>A lender offers availability.</a:t>
            </a:r>
          </a:p>
          <a:p xmlns:a="http://schemas.openxmlformats.org/drawingml/2006/main">
            <a:pPr>
              <a:defRPr sz="2325" b="0">
                <a:solidFill>
                  <a:srgbClr val="526862"/>
                </a:solidFill>
                <a:latin typeface="Arial"/>
                <a:ea typeface="Arial"/>
                <a:cs typeface="Arial"/>
              </a:defRPr>
            </a:pPr>
            <a:r>
              <a:rPr sz="2325" b="0">
                <a:solidFill>
                  <a:srgbClr val="526862"/>
                </a:solidFill>
                <a:latin typeface="Arial"/>
                <a:ea typeface="Arial"/>
                <a:cs typeface="Arial"/>
              </a:rPr>
              <a:t>Both approve a match.</a:t>
            </a:r>
          </a:p>
          <a:p xmlns:a="http://schemas.openxmlformats.org/drawingml/2006/main">
            <a:pPr>
              <a:defRPr sz="2325" b="0">
                <a:solidFill>
                  <a:srgbClr val="526862"/>
                </a:solidFill>
                <a:latin typeface="Arial"/>
                <a:ea typeface="Arial"/>
                <a:cs typeface="Arial"/>
              </a:defRPr>
            </a:pPr>
            <a:r>
              <a:rPr sz="2325" b="0">
                <a:solidFill>
                  <a:srgbClr val="526862"/>
                </a:solidFill>
                <a:latin typeface="Arial"/>
                <a:ea typeface="Arial"/>
                <a:cs typeface="Arial"/>
              </a:rPr>
              <a:t>An admin reviews the evidence.</a:t>
            </a:r>
          </a:p>
        </p:txBody>
      </p:sp>
      <p:sp>
        <p:nvSpPr>
          <p:cNvPr id="6" name="">
            <a:extLst xmlns:a="http://schemas.openxmlformats.org/drawingml/2006/main">
              <a:ext uri="{FF2B5EF4-FFF2-40B4-BE49-F238E27FC236}">
                <a16:creationId xmlns:a16="http://schemas.microsoft.com/office/drawing/2014/main" id="{F81C6DA0-2E0E-40B9-90B4-7997761049BC}"/>
              </a:ext>
            </a:extLst>
          </p:cNvPr>
          <p:cNvSpPr>
            <a:spLocks xmlns:a="http://schemas.openxmlformats.org/drawingml/2006/main" noGrp="1"/>
          </p:cNvSpPr>
          <p:nvPr/>
        </p:nvSpPr>
        <p:spPr>
          <a:xfrm xmlns:a="http://schemas.openxmlformats.org/drawingml/2006/main">
            <a:off x="609600" y="48958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5765D"/>
                </a:solidFill>
                <a:latin typeface="Arial"/>
                <a:ea typeface="Arial"/>
                <a:cs typeface="Arial"/>
              </a:defRPr>
            </a:pPr>
            <a:r>
              <a:rPr sz="3150" b="1">
                <a:solidFill>
                  <a:srgbClr val="25765D"/>
                </a:solidFill>
                <a:latin typeface="Arial"/>
                <a:ea typeface="Arial"/>
                <a:cs typeface="Arial"/>
              </a:rPr>
              <a:t>One exact agreement connects the people to the loan.</a:t>
            </a:r>
          </a:p>
        </p:txBody>
      </p:sp>
    </p:spTree>
    <p:extLst>
      <p:ext uri="{BB962C8B-B14F-4D97-AF65-F5344CB8AC3E}">
        <p14:creationId xmlns:p14="http://schemas.microsoft.com/office/powerpoint/2010/main" val="2091570410"/>
      </p:ext>
    </p:extLst>
  </p:cSld>
</p:sld>
</file>

<file path=ppt/slides/slide4.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D4B084CE-0D61-46FC-B684-FFF8D100EC35}"/>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DEE95045-0C38-42FB-931C-12F696D47F1B}"/>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B85F6ECA-AEF3-430A-8DE5-EF08689145D8}"/>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One application. Two kinds of evidence.</a:t>
            </a:r>
          </a:p>
        </p:txBody>
      </p:sp>
      <p:sp>
        <p:nvSpPr>
          <p:cNvPr id="4" name="">
            <a:extLst xmlns:a="http://schemas.openxmlformats.org/drawingml/2006/main">
              <a:ext uri="{FF2B5EF4-FFF2-40B4-BE49-F238E27FC236}">
                <a16:creationId xmlns:a16="http://schemas.microsoft.com/office/drawing/2014/main" id="{84945A20-EF3C-491E-AF92-FD84F9F8BEA8}"/>
              </a:ext>
            </a:extLst>
          </p:cNvPr>
          <p:cNvSpPr>
            <a:spLocks xmlns:a="http://schemas.openxmlformats.org/drawingml/2006/main" noGrp="1"/>
          </p:cNvSpPr>
          <p:nvPr/>
        </p:nvSpPr>
        <p:spPr>
          <a:xfrm xmlns:a="http://schemas.openxmlformats.org/drawingml/2006/main">
            <a:off x="609600" y="2209800"/>
            <a:ext cx="2381250"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5" name="">
            <a:extLst xmlns:a="http://schemas.openxmlformats.org/drawingml/2006/main">
              <a:ext uri="{FF2B5EF4-FFF2-40B4-BE49-F238E27FC236}">
                <a16:creationId xmlns:a16="http://schemas.microsoft.com/office/drawing/2014/main" id="{2E046041-3802-48A4-8446-8DEBF0CCDCE4}"/>
              </a:ext>
            </a:extLst>
          </p:cNvPr>
          <p:cNvSpPr>
            <a:spLocks xmlns:a="http://schemas.openxmlformats.org/drawingml/2006/main" noGrp="1"/>
          </p:cNvSpPr>
          <p:nvPr/>
        </p:nvSpPr>
        <p:spPr>
          <a:xfrm xmlns:a="http://schemas.openxmlformats.org/drawingml/2006/main">
            <a:off x="781050" y="2362200"/>
            <a:ext cx="2038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People + AI</a:t>
            </a:r>
          </a:p>
        </p:txBody>
      </p:sp>
      <p:sp>
        <p:nvSpPr>
          <p:cNvPr id="6" name="">
            <a:extLst xmlns:a="http://schemas.openxmlformats.org/drawingml/2006/main">
              <a:ext uri="{FF2B5EF4-FFF2-40B4-BE49-F238E27FC236}">
                <a16:creationId xmlns:a16="http://schemas.microsoft.com/office/drawing/2014/main" id="{B2F905F6-E924-4506-A049-DAD0C45F8BD5}"/>
              </a:ext>
            </a:extLst>
          </p:cNvPr>
          <p:cNvSpPr>
            <a:spLocks xmlns:a="http://schemas.openxmlformats.org/drawingml/2006/main" noGrp="1"/>
          </p:cNvSpPr>
          <p:nvPr/>
        </p:nvSpPr>
        <p:spPr>
          <a:xfrm xmlns:a="http://schemas.openxmlformats.org/drawingml/2006/main">
            <a:off x="781050" y="2857500"/>
            <a:ext cx="2038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Requests and</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exact terms</a:t>
            </a:r>
          </a:p>
        </p:txBody>
      </p:sp>
      <p:sp>
        <p:nvSpPr>
          <p:cNvPr id="7" name="">
            <a:extLst xmlns:a="http://schemas.openxmlformats.org/drawingml/2006/main">
              <a:ext uri="{FF2B5EF4-FFF2-40B4-BE49-F238E27FC236}">
                <a16:creationId xmlns:a16="http://schemas.microsoft.com/office/drawing/2014/main" id="{50E3253E-1D56-4340-A2A9-4E422AB2C8F8}"/>
              </a:ext>
            </a:extLst>
          </p:cNvPr>
          <p:cNvSpPr>
            <a:spLocks xmlns:a="http://schemas.openxmlformats.org/drawingml/2006/main" noGrp="1"/>
          </p:cNvSpPr>
          <p:nvPr/>
        </p:nvSpPr>
        <p:spPr>
          <a:xfrm xmlns:a="http://schemas.openxmlformats.org/drawingml/2006/main">
            <a:off x="3086100" y="2790825"/>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BE60BAC-13F9-40E9-8285-C58E0C9F95BC}"/>
              </a:ext>
            </a:extLst>
          </p:cNvPr>
          <p:cNvSpPr>
            <a:spLocks xmlns:a="http://schemas.openxmlformats.org/drawingml/2006/main" noGrp="1"/>
          </p:cNvSpPr>
          <p:nvPr/>
        </p:nvSpPr>
        <p:spPr>
          <a:xfrm xmlns:a="http://schemas.openxmlformats.org/drawingml/2006/main">
            <a:off x="3476625" y="2209800"/>
            <a:ext cx="2381250"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9" name="">
            <a:extLst xmlns:a="http://schemas.openxmlformats.org/drawingml/2006/main">
              <a:ext uri="{FF2B5EF4-FFF2-40B4-BE49-F238E27FC236}">
                <a16:creationId xmlns:a16="http://schemas.microsoft.com/office/drawing/2014/main" id="{E850FC97-541B-4B3B-B73B-C1164748B1F0}"/>
              </a:ext>
            </a:extLst>
          </p:cNvPr>
          <p:cNvSpPr>
            <a:spLocks xmlns:a="http://schemas.openxmlformats.org/drawingml/2006/main" noGrp="1"/>
          </p:cNvSpPr>
          <p:nvPr/>
        </p:nvSpPr>
        <p:spPr>
          <a:xfrm xmlns:a="http://schemas.openxmlformats.org/drawingml/2006/main">
            <a:off x="3648075" y="2362200"/>
            <a:ext cx="2038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Recognitium</a:t>
            </a:r>
          </a:p>
        </p:txBody>
      </p:sp>
      <p:sp>
        <p:nvSpPr>
          <p:cNvPr id="10" name="">
            <a:extLst xmlns:a="http://schemas.openxmlformats.org/drawingml/2006/main">
              <a:ext uri="{FF2B5EF4-FFF2-40B4-BE49-F238E27FC236}">
                <a16:creationId xmlns:a16="http://schemas.microsoft.com/office/drawing/2014/main" id="{14926719-86EF-43FC-9224-08405E6E292D}"/>
              </a:ext>
            </a:extLst>
          </p:cNvPr>
          <p:cNvSpPr>
            <a:spLocks xmlns:a="http://schemas.openxmlformats.org/drawingml/2006/main" noGrp="1"/>
          </p:cNvSpPr>
          <p:nvPr/>
        </p:nvSpPr>
        <p:spPr>
          <a:xfrm xmlns:a="http://schemas.openxmlformats.org/drawingml/2006/main">
            <a:off x="3648075" y="2857500"/>
            <a:ext cx="2038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Separate receipt</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history</a:t>
            </a:r>
          </a:p>
        </p:txBody>
      </p:sp>
      <p:sp>
        <p:nvSpPr>
          <p:cNvPr id="11" name="">
            <a:extLst xmlns:a="http://schemas.openxmlformats.org/drawingml/2006/main">
              <a:ext uri="{FF2B5EF4-FFF2-40B4-BE49-F238E27FC236}">
                <a16:creationId xmlns:a16="http://schemas.microsoft.com/office/drawing/2014/main" id="{981F603E-4CA0-40B1-A92B-65A77B7B1EE6}"/>
              </a:ext>
            </a:extLst>
          </p:cNvPr>
          <p:cNvSpPr>
            <a:spLocks xmlns:a="http://schemas.openxmlformats.org/drawingml/2006/main" noGrp="1"/>
          </p:cNvSpPr>
          <p:nvPr/>
        </p:nvSpPr>
        <p:spPr>
          <a:xfrm xmlns:a="http://schemas.openxmlformats.org/drawingml/2006/main">
            <a:off x="5953125" y="2790825"/>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58786D8-8C36-4A9B-9E18-C378B772EC8C}"/>
              </a:ext>
            </a:extLst>
          </p:cNvPr>
          <p:cNvSpPr>
            <a:spLocks xmlns:a="http://schemas.openxmlformats.org/drawingml/2006/main" noGrp="1"/>
          </p:cNvSpPr>
          <p:nvPr/>
        </p:nvSpPr>
        <p:spPr>
          <a:xfrm xmlns:a="http://schemas.openxmlformats.org/drawingml/2006/main">
            <a:off x="6343650" y="2209800"/>
            <a:ext cx="2190750"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13" name="">
            <a:extLst xmlns:a="http://schemas.openxmlformats.org/drawingml/2006/main">
              <a:ext uri="{FF2B5EF4-FFF2-40B4-BE49-F238E27FC236}">
                <a16:creationId xmlns:a16="http://schemas.microsoft.com/office/drawing/2014/main" id="{89FB95ED-0687-4585-BF4D-0396DAC558CD}"/>
              </a:ext>
            </a:extLst>
          </p:cNvPr>
          <p:cNvSpPr>
            <a:spLocks xmlns:a="http://schemas.openxmlformats.org/drawingml/2006/main" noGrp="1"/>
          </p:cNvSpPr>
          <p:nvPr/>
        </p:nvSpPr>
        <p:spPr>
          <a:xfrm xmlns:a="http://schemas.openxmlformats.org/drawingml/2006/main">
            <a:off x="6515100" y="2362200"/>
            <a:ext cx="1847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Broker</a:t>
            </a:r>
          </a:p>
        </p:txBody>
      </p:sp>
      <p:sp>
        <p:nvSpPr>
          <p:cNvPr id="14" name="">
            <a:extLst xmlns:a="http://schemas.openxmlformats.org/drawingml/2006/main">
              <a:ext uri="{FF2B5EF4-FFF2-40B4-BE49-F238E27FC236}">
                <a16:creationId xmlns:a16="http://schemas.microsoft.com/office/drawing/2014/main" id="{55140558-2FCD-4C34-9DD2-F5D9451C3EED}"/>
              </a:ext>
            </a:extLst>
          </p:cNvPr>
          <p:cNvSpPr>
            <a:spLocks xmlns:a="http://schemas.openxmlformats.org/drawingml/2006/main" noGrp="1"/>
          </p:cNvSpPr>
          <p:nvPr/>
        </p:nvSpPr>
        <p:spPr>
          <a:xfrm xmlns:a="http://schemas.openxmlformats.org/drawingml/2006/main">
            <a:off x="6515100" y="2857500"/>
            <a:ext cx="18478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Verify receipt</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then co-sign</a:t>
            </a:r>
          </a:p>
        </p:txBody>
      </p:sp>
      <p:sp>
        <p:nvSpPr>
          <p:cNvPr id="15" name="">
            <a:extLst xmlns:a="http://schemas.openxmlformats.org/drawingml/2006/main">
              <a:ext uri="{FF2B5EF4-FFF2-40B4-BE49-F238E27FC236}">
                <a16:creationId xmlns:a16="http://schemas.microsoft.com/office/drawing/2014/main" id="{5315B282-2E3A-4A08-B9AE-D7DCCBFAA267}"/>
              </a:ext>
            </a:extLst>
          </p:cNvPr>
          <p:cNvSpPr>
            <a:spLocks xmlns:a="http://schemas.openxmlformats.org/drawingml/2006/main" noGrp="1"/>
          </p:cNvSpPr>
          <p:nvPr/>
        </p:nvSpPr>
        <p:spPr>
          <a:xfrm xmlns:a="http://schemas.openxmlformats.org/drawingml/2006/main">
            <a:off x="8629650" y="2790825"/>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6B0C703-AE6B-42D4-B631-36ADBD3DDE2A}"/>
              </a:ext>
            </a:extLst>
          </p:cNvPr>
          <p:cNvSpPr>
            <a:spLocks xmlns:a="http://schemas.openxmlformats.org/drawingml/2006/main" noGrp="1"/>
          </p:cNvSpPr>
          <p:nvPr/>
        </p:nvSpPr>
        <p:spPr>
          <a:xfrm xmlns:a="http://schemas.openxmlformats.org/drawingml/2006/main">
            <a:off x="9020175" y="2209800"/>
            <a:ext cx="2562225"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17" name="">
            <a:extLst xmlns:a="http://schemas.openxmlformats.org/drawingml/2006/main">
              <a:ext uri="{FF2B5EF4-FFF2-40B4-BE49-F238E27FC236}">
                <a16:creationId xmlns:a16="http://schemas.microsoft.com/office/drawing/2014/main" id="{219FDEC8-106F-41A3-AA7A-9E0DC446E50F}"/>
              </a:ext>
            </a:extLst>
          </p:cNvPr>
          <p:cNvSpPr>
            <a:spLocks xmlns:a="http://schemas.openxmlformats.org/drawingml/2006/main" noGrp="1"/>
          </p:cNvSpPr>
          <p:nvPr/>
        </p:nvSpPr>
        <p:spPr>
          <a:xfrm xmlns:a="http://schemas.openxmlformats.org/drawingml/2006/main">
            <a:off x="9191625" y="2362200"/>
            <a:ext cx="2219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XRPL</a:t>
            </a:r>
          </a:p>
        </p:txBody>
      </p:sp>
      <p:sp>
        <p:nvSpPr>
          <p:cNvPr id="18" name="">
            <a:extLst xmlns:a="http://schemas.openxmlformats.org/drawingml/2006/main">
              <a:ext uri="{FF2B5EF4-FFF2-40B4-BE49-F238E27FC236}">
                <a16:creationId xmlns:a16="http://schemas.microsoft.com/office/drawing/2014/main" id="{1D255100-90F5-4D1D-B205-F674E329F913}"/>
              </a:ext>
            </a:extLst>
          </p:cNvPr>
          <p:cNvSpPr>
            <a:spLocks xmlns:a="http://schemas.openxmlformats.org/drawingml/2006/main" noGrp="1"/>
          </p:cNvSpPr>
          <p:nvPr/>
        </p:nvSpPr>
        <p:spPr>
          <a:xfrm xmlns:a="http://schemas.openxmlformats.org/drawingml/2006/main">
            <a:off x="9191625" y="2857500"/>
            <a:ext cx="22193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Validate LoanSet</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and transfer XRP</a:t>
            </a:r>
          </a:p>
        </p:txBody>
      </p:sp>
      <p:sp>
        <p:nvSpPr>
          <p:cNvPr id="19" name="">
            <a:extLst xmlns:a="http://schemas.openxmlformats.org/drawingml/2006/main">
              <a:ext uri="{FF2B5EF4-FFF2-40B4-BE49-F238E27FC236}">
                <a16:creationId xmlns:a16="http://schemas.microsoft.com/office/drawing/2014/main" id="{E0836698-5269-431C-B208-0E11CAA622D2}"/>
              </a:ext>
            </a:extLst>
          </p:cNvPr>
          <p:cNvSpPr>
            <a:spLocks xmlns:a="http://schemas.openxmlformats.org/drawingml/2006/main" noGrp="1"/>
          </p:cNvSpPr>
          <p:nvPr/>
        </p:nvSpPr>
        <p:spPr>
          <a:xfrm xmlns:a="http://schemas.openxmlformats.org/drawingml/2006/main">
            <a:off x="609600" y="4086225"/>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862"/>
                </a:solidFill>
                <a:latin typeface="Arial"/>
                <a:ea typeface="Arial"/>
                <a:cs typeface="Arial"/>
              </a:defRPr>
            </a:pPr>
            <a:r>
              <a:rPr sz="1875" b="0">
                <a:solidFill>
                  <a:srgbClr val="526862"/>
                </a:solidFill>
                <a:latin typeface="Arial"/>
                <a:ea typeface="Arial"/>
                <a:cs typeface="Arial"/>
              </a:rPr>
              <a:t>Private agreement history stays off the public rail. Only commitments travel.</a:t>
            </a:r>
          </a:p>
        </p:txBody>
      </p:sp>
      <p:sp>
        <p:nvSpPr>
          <p:cNvPr id="20" name="">
            <a:extLst xmlns:a="http://schemas.openxmlformats.org/drawingml/2006/main">
              <a:ext uri="{FF2B5EF4-FFF2-40B4-BE49-F238E27FC236}">
                <a16:creationId xmlns:a16="http://schemas.microsoft.com/office/drawing/2014/main" id="{C5B8EA9A-4ACE-4C66-BB29-50C06D6D57D2}"/>
              </a:ext>
            </a:extLst>
          </p:cNvPr>
          <p:cNvSpPr>
            <a:spLocks xmlns:a="http://schemas.openxmlformats.org/drawingml/2006/main" noGrp="1"/>
          </p:cNvSpPr>
          <p:nvPr/>
        </p:nvSpPr>
        <p:spPr>
          <a:xfrm xmlns:a="http://schemas.openxmlformats.org/drawingml/2006/main">
            <a:off x="609600" y="481012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75BDA"/>
                </a:solidFill>
                <a:latin typeface="Arial"/>
                <a:ea typeface="Arial"/>
                <a:cs typeface="Arial"/>
              </a:defRPr>
            </a:pPr>
            <a:r>
              <a:rPr sz="1800" b="1">
                <a:solidFill>
                  <a:srgbClr val="075BDA"/>
                </a:solidFill>
                <a:latin typeface="Arial"/>
                <a:ea typeface="Arial"/>
                <a:cs typeface="Arial"/>
              </a:rPr>
              <a:t>XLS-65</a:t>
            </a:r>
          </a:p>
        </p:txBody>
      </p:sp>
      <p:sp>
        <p:nvSpPr>
          <p:cNvPr id="21" name="">
            <a:extLst xmlns:a="http://schemas.openxmlformats.org/drawingml/2006/main">
              <a:ext uri="{FF2B5EF4-FFF2-40B4-BE49-F238E27FC236}">
                <a16:creationId xmlns:a16="http://schemas.microsoft.com/office/drawing/2014/main" id="{F0D15713-E473-4A55-9F6A-56559BE50381}"/>
              </a:ext>
            </a:extLst>
          </p:cNvPr>
          <p:cNvSpPr>
            <a:spLocks xmlns:a="http://schemas.openxmlformats.org/drawingml/2006/main" noGrp="1"/>
          </p:cNvSpPr>
          <p:nvPr/>
        </p:nvSpPr>
        <p:spPr>
          <a:xfrm xmlns:a="http://schemas.openxmlformats.org/drawingml/2006/main">
            <a:off x="609600" y="5257800"/>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Vault + deposit</a:t>
            </a:r>
          </a:p>
        </p:txBody>
      </p:sp>
      <p:sp>
        <p:nvSpPr>
          <p:cNvPr id="22" name="">
            <a:extLst xmlns:a="http://schemas.openxmlformats.org/drawingml/2006/main">
              <a:ext uri="{FF2B5EF4-FFF2-40B4-BE49-F238E27FC236}">
                <a16:creationId xmlns:a16="http://schemas.microsoft.com/office/drawing/2014/main" id="{027FD321-A453-48D0-8E41-957DAD2011B3}"/>
              </a:ext>
            </a:extLst>
          </p:cNvPr>
          <p:cNvSpPr>
            <a:spLocks xmlns:a="http://schemas.openxmlformats.org/drawingml/2006/main" noGrp="1"/>
          </p:cNvSpPr>
          <p:nvPr/>
        </p:nvSpPr>
        <p:spPr>
          <a:xfrm xmlns:a="http://schemas.openxmlformats.org/drawingml/2006/main">
            <a:off x="3028950" y="5372100"/>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F08789F-AF30-4AE4-8121-7CAF79186998}"/>
              </a:ext>
            </a:extLst>
          </p:cNvPr>
          <p:cNvSpPr>
            <a:spLocks xmlns:a="http://schemas.openxmlformats.org/drawingml/2006/main" noGrp="1"/>
          </p:cNvSpPr>
          <p:nvPr/>
        </p:nvSpPr>
        <p:spPr>
          <a:xfrm xmlns:a="http://schemas.openxmlformats.org/drawingml/2006/main">
            <a:off x="3476625" y="481012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75BDA"/>
                </a:solidFill>
                <a:latin typeface="Arial"/>
                <a:ea typeface="Arial"/>
                <a:cs typeface="Arial"/>
              </a:defRPr>
            </a:pPr>
            <a:r>
              <a:rPr sz="1800" b="1">
                <a:solidFill>
                  <a:srgbClr val="075BDA"/>
                </a:solidFill>
                <a:latin typeface="Arial"/>
                <a:ea typeface="Arial"/>
                <a:cs typeface="Arial"/>
              </a:rPr>
              <a:t>XLS-66</a:t>
            </a:r>
          </a:p>
        </p:txBody>
      </p:sp>
      <p:sp>
        <p:nvSpPr>
          <p:cNvPr id="24" name="">
            <a:extLst xmlns:a="http://schemas.openxmlformats.org/drawingml/2006/main">
              <a:ext uri="{FF2B5EF4-FFF2-40B4-BE49-F238E27FC236}">
                <a16:creationId xmlns:a16="http://schemas.microsoft.com/office/drawing/2014/main" id="{484ABDC8-FF5D-4391-B6D9-44833C7ECB3E}"/>
              </a:ext>
            </a:extLst>
          </p:cNvPr>
          <p:cNvSpPr>
            <a:spLocks xmlns:a="http://schemas.openxmlformats.org/drawingml/2006/main" noGrp="1"/>
          </p:cNvSpPr>
          <p:nvPr/>
        </p:nvSpPr>
        <p:spPr>
          <a:xfrm xmlns:a="http://schemas.openxmlformats.org/drawingml/2006/main">
            <a:off x="3476625" y="525780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LoanSet</a:t>
            </a:r>
          </a:p>
        </p:txBody>
      </p:sp>
      <p:sp>
        <p:nvSpPr>
          <p:cNvPr id="25" name="">
            <a:extLst xmlns:a="http://schemas.openxmlformats.org/drawingml/2006/main">
              <a:ext uri="{FF2B5EF4-FFF2-40B4-BE49-F238E27FC236}">
                <a16:creationId xmlns:a16="http://schemas.microsoft.com/office/drawing/2014/main" id="{1B095D0A-D59E-4C17-854F-36509835E04E}"/>
              </a:ext>
            </a:extLst>
          </p:cNvPr>
          <p:cNvSpPr>
            <a:spLocks xmlns:a="http://schemas.openxmlformats.org/drawingml/2006/main" noGrp="1"/>
          </p:cNvSpPr>
          <p:nvPr/>
        </p:nvSpPr>
        <p:spPr>
          <a:xfrm xmlns:a="http://schemas.openxmlformats.org/drawingml/2006/main">
            <a:off x="5800725" y="5372100"/>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7F284E19-1E3E-400A-9D23-C8DB7A25CEF1}"/>
              </a:ext>
            </a:extLst>
          </p:cNvPr>
          <p:cNvSpPr>
            <a:spLocks xmlns:a="http://schemas.openxmlformats.org/drawingml/2006/main" noGrp="1"/>
          </p:cNvSpPr>
          <p:nvPr/>
        </p:nvSpPr>
        <p:spPr>
          <a:xfrm xmlns:a="http://schemas.openxmlformats.org/drawingml/2006/main">
            <a:off x="6343650" y="525780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LoanPay</a:t>
            </a:r>
          </a:p>
        </p:txBody>
      </p:sp>
      <p:sp>
        <p:nvSpPr>
          <p:cNvPr id="27" name="">
            <a:extLst xmlns:a="http://schemas.openxmlformats.org/drawingml/2006/main">
              <a:ext uri="{FF2B5EF4-FFF2-40B4-BE49-F238E27FC236}">
                <a16:creationId xmlns:a16="http://schemas.microsoft.com/office/drawing/2014/main" id="{734F6AAA-1F85-4D9C-8198-76BF4E705A92}"/>
              </a:ext>
            </a:extLst>
          </p:cNvPr>
          <p:cNvSpPr>
            <a:spLocks xmlns:a="http://schemas.openxmlformats.org/drawingml/2006/main" noGrp="1"/>
          </p:cNvSpPr>
          <p:nvPr/>
        </p:nvSpPr>
        <p:spPr>
          <a:xfrm xmlns:a="http://schemas.openxmlformats.org/drawingml/2006/main">
            <a:off x="8629650" y="5372100"/>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47370724-1BCA-4AB7-8C00-6623AD9534A3}"/>
              </a:ext>
            </a:extLst>
          </p:cNvPr>
          <p:cNvSpPr>
            <a:spLocks xmlns:a="http://schemas.openxmlformats.org/drawingml/2006/main" noGrp="1"/>
          </p:cNvSpPr>
          <p:nvPr/>
        </p:nvSpPr>
        <p:spPr>
          <a:xfrm xmlns:a="http://schemas.openxmlformats.org/drawingml/2006/main">
            <a:off x="9020175" y="5257800"/>
            <a:ext cx="25622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VaultWithdraw</a:t>
            </a:r>
          </a:p>
        </p:txBody>
      </p:sp>
      <p:sp>
        <p:nvSpPr>
          <p:cNvPr id="29" name="">
            <a:extLst xmlns:a="http://schemas.openxmlformats.org/drawingml/2006/main">
              <a:ext uri="{FF2B5EF4-FFF2-40B4-BE49-F238E27FC236}">
                <a16:creationId xmlns:a16="http://schemas.microsoft.com/office/drawing/2014/main" id="{2C4B9247-F504-4A81-BDFB-40ED0E17EE1B}"/>
              </a:ext>
            </a:extLst>
          </p:cNvPr>
          <p:cNvSpPr>
            <a:spLocks xmlns:a="http://schemas.openxmlformats.org/drawingml/2006/main" noGrp="1"/>
          </p:cNvSpPr>
          <p:nvPr/>
        </p:nvSpPr>
        <p:spPr>
          <a:xfrm xmlns:a="http://schemas.openxmlformats.org/drawingml/2006/main">
            <a:off x="609600" y="623887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62"/>
                </a:solidFill>
                <a:latin typeface="Arial"/>
                <a:ea typeface="Arial"/>
                <a:cs typeface="Arial"/>
              </a:defRPr>
            </a:pPr>
            <a:r>
              <a:rPr sz="1575" b="0">
                <a:solidFill>
                  <a:srgbClr val="526862"/>
                </a:solidFill>
                <a:latin typeface="Arial"/>
                <a:ea typeface="Arial"/>
                <a:cs typeface="Arial"/>
              </a:rPr>
              <a:t>The broker enforces the receipt policy. XRPL enforces its native lending rules.</a:t>
            </a:r>
          </a:p>
        </p:txBody>
      </p:sp>
    </p:spTree>
    <p:extLst>
      <p:ext uri="{BB962C8B-B14F-4D97-AF65-F5344CB8AC3E}">
        <p14:creationId xmlns:p14="http://schemas.microsoft.com/office/powerpoint/2010/main" val="225970651"/>
      </p:ext>
    </p:extLst>
  </p:cSld>
</p:sld>
</file>

<file path=ppt/slides/slide5.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9D68062-5CA2-4C18-866E-F9C3F4638C55}"/>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9D5A123E-F422-4E0E-BD7F-28AB13A720A2}"/>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FF2D34E3-E6A0-4A10-9B88-E815CE3B5CD6}"/>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Native lending, with evidence to inspect</a:t>
            </a:r>
          </a:p>
        </p:txBody>
      </p:sp>
      <p:sp>
        <p:nvSpPr>
          <p:cNvPr id="4" name="">
            <a:extLst xmlns:a="http://schemas.openxmlformats.org/drawingml/2006/main">
              <a:ext uri="{FF2B5EF4-FFF2-40B4-BE49-F238E27FC236}">
                <a16:creationId xmlns:a16="http://schemas.microsoft.com/office/drawing/2014/main" id="{6ECA7BF8-DB09-4F5E-98F4-6EAEF94CAFB3}"/>
              </a:ext>
            </a:extLst>
          </p:cNvPr>
          <p:cNvSpPr>
            <a:spLocks xmlns:a="http://schemas.openxmlformats.org/drawingml/2006/main" noGrp="1"/>
          </p:cNvSpPr>
          <p:nvPr/>
        </p:nvSpPr>
        <p:spPr>
          <a:xfrm xmlns:a="http://schemas.openxmlformats.org/drawingml/2006/main">
            <a:off x="609600" y="2219325"/>
            <a:ext cx="5048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5765D"/>
                </a:solidFill>
                <a:latin typeface="Arial"/>
                <a:ea typeface="Arial"/>
                <a:cs typeface="Arial"/>
              </a:defRPr>
            </a:pPr>
            <a:r>
              <a:rPr sz="5700" b="1">
                <a:solidFill>
                  <a:srgbClr val="25765D"/>
                </a:solidFill>
                <a:latin typeface="Arial"/>
                <a:ea typeface="Arial"/>
                <a:cs typeface="Arial"/>
              </a:rPr>
              <a:t>100 XRP</a:t>
            </a:r>
          </a:p>
        </p:txBody>
      </p:sp>
      <p:sp>
        <p:nvSpPr>
          <p:cNvPr id="5" name="">
            <a:extLst xmlns:a="http://schemas.openxmlformats.org/drawingml/2006/main">
              <a:ext uri="{FF2B5EF4-FFF2-40B4-BE49-F238E27FC236}">
                <a16:creationId xmlns:a16="http://schemas.microsoft.com/office/drawing/2014/main" id="{19360EFC-6C8C-430A-A3C3-A11376A39320}"/>
              </a:ext>
            </a:extLst>
          </p:cNvPr>
          <p:cNvSpPr>
            <a:spLocks xmlns:a="http://schemas.openxmlformats.org/drawingml/2006/main" noGrp="1"/>
          </p:cNvSpPr>
          <p:nvPr/>
        </p:nvSpPr>
        <p:spPr>
          <a:xfrm xmlns:a="http://schemas.openxmlformats.org/drawingml/2006/main">
            <a:off x="609600" y="3343275"/>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Borrower funding confirmed</a:t>
            </a:r>
          </a:p>
        </p:txBody>
      </p:sp>
      <p:sp>
        <p:nvSpPr>
          <p:cNvPr id="6" name="">
            <a:extLst xmlns:a="http://schemas.openxmlformats.org/drawingml/2006/main">
              <a:ext uri="{FF2B5EF4-FFF2-40B4-BE49-F238E27FC236}">
                <a16:creationId xmlns:a16="http://schemas.microsoft.com/office/drawing/2014/main" id="{8D864B59-E8E6-41D7-96BF-EF25332A6ADB}"/>
              </a:ext>
            </a:extLst>
          </p:cNvPr>
          <p:cNvSpPr>
            <a:spLocks xmlns:a="http://schemas.openxmlformats.org/drawingml/2006/main" noGrp="1"/>
          </p:cNvSpPr>
          <p:nvPr/>
        </p:nvSpPr>
        <p:spPr>
          <a:xfrm xmlns:a="http://schemas.openxmlformats.org/drawingml/2006/main">
            <a:off x="6334125" y="2333625"/>
            <a:ext cx="5238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23C35"/>
                </a:solidFill>
                <a:latin typeface="Arial"/>
                <a:ea typeface="Arial"/>
                <a:cs typeface="Arial"/>
              </a:defRPr>
            </a:pPr>
            <a:r>
              <a:rPr sz="4200" b="1">
                <a:solidFill>
                  <a:srgbClr val="123C35"/>
                </a:solidFill>
                <a:latin typeface="Arial"/>
                <a:ea typeface="Arial"/>
                <a:cs typeface="Arial"/>
              </a:rPr>
              <a:t>200.000020 XRP</a:t>
            </a:r>
          </a:p>
        </p:txBody>
      </p:sp>
      <p:sp>
        <p:nvSpPr>
          <p:cNvPr id="7" name="">
            <a:extLst xmlns:a="http://schemas.openxmlformats.org/drawingml/2006/main">
              <a:ext uri="{FF2B5EF4-FFF2-40B4-BE49-F238E27FC236}">
                <a16:creationId xmlns:a16="http://schemas.microsoft.com/office/drawing/2014/main" id="{51285CED-D05D-4ABE-8068-E0D0954232AF}"/>
              </a:ext>
            </a:extLst>
          </p:cNvPr>
          <p:cNvSpPr>
            <a:spLocks xmlns:a="http://schemas.openxmlformats.org/drawingml/2006/main" noGrp="1"/>
          </p:cNvSpPr>
          <p:nvPr/>
        </p:nvSpPr>
        <p:spPr>
          <a:xfrm xmlns:a="http://schemas.openxmlformats.org/drawingml/2006/main">
            <a:off x="6334125" y="3343275"/>
            <a:ext cx="5143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26862"/>
                </a:solidFill>
                <a:latin typeface="Arial"/>
                <a:ea typeface="Arial"/>
                <a:cs typeface="Arial"/>
              </a:defRPr>
            </a:pPr>
            <a:r>
              <a:rPr sz="2250" b="0">
                <a:solidFill>
                  <a:srgbClr val="526862"/>
                </a:solidFill>
                <a:latin typeface="Arial"/>
                <a:ea typeface="Arial"/>
                <a:cs typeface="Arial"/>
              </a:rPr>
              <a:t>Lender withdrawal</a:t>
            </a:r>
          </a:p>
          <a:p xmlns:a="http://schemas.openxmlformats.org/drawingml/2006/main">
            <a:pPr>
              <a:defRPr sz="2250" b="0">
                <a:solidFill>
                  <a:srgbClr val="526862"/>
                </a:solidFill>
                <a:latin typeface="Arial"/>
                <a:ea typeface="Arial"/>
                <a:cs typeface="Arial"/>
              </a:defRPr>
            </a:pPr>
            <a:r>
              <a:rPr sz="2250" b="0">
                <a:solidFill>
                  <a:srgbClr val="526862"/>
                </a:solidFill>
                <a:latin typeface="Arial"/>
                <a:ea typeface="Arial"/>
                <a:cs typeface="Arial"/>
              </a:rPr>
              <a:t>20 drops gross yield</a:t>
            </a:r>
          </a:p>
        </p:txBody>
      </p:sp>
      <p:sp>
        <p:nvSpPr>
          <p:cNvPr id="8" name="">
            <a:extLst xmlns:a="http://schemas.openxmlformats.org/drawingml/2006/main">
              <a:ext uri="{FF2B5EF4-FFF2-40B4-BE49-F238E27FC236}">
                <a16:creationId xmlns:a16="http://schemas.microsoft.com/office/drawing/2014/main" id="{D26CAFD4-FCD1-4CB2-8AB1-F1D8FE46CBDC}"/>
              </a:ext>
            </a:extLst>
          </p:cNvPr>
          <p:cNvSpPr>
            <a:spLocks xmlns:a="http://schemas.openxmlformats.org/drawingml/2006/main" noGrp="1"/>
          </p:cNvSpPr>
          <p:nvPr/>
        </p:nvSpPr>
        <p:spPr>
          <a:xfrm xmlns:a="http://schemas.openxmlformats.org/drawingml/2006/main">
            <a:off x="609600" y="4810125"/>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Vault   /   Deposit   /   Broker + loan   /   Repay   /   Withdraw</a:t>
            </a:r>
          </a:p>
        </p:txBody>
      </p:sp>
      <p:sp>
        <p:nvSpPr>
          <p:cNvPr id="9" name="">
            <a:extLst xmlns:a="http://schemas.openxmlformats.org/drawingml/2006/main">
              <a:ext uri="{FF2B5EF4-FFF2-40B4-BE49-F238E27FC236}">
                <a16:creationId xmlns:a16="http://schemas.microsoft.com/office/drawing/2014/main" id="{66238A6A-49A9-4893-BB17-3FAE0CE48D4A}"/>
              </a:ext>
            </a:extLst>
          </p:cNvPr>
          <p:cNvSpPr>
            <a:spLocks xmlns:a="http://schemas.openxmlformats.org/drawingml/2006/main" noGrp="1"/>
          </p:cNvSpPr>
          <p:nvPr/>
        </p:nvSpPr>
        <p:spPr>
          <a:xfrm xmlns:a="http://schemas.openxmlformats.org/drawingml/2006/main">
            <a:off x="609600" y="54864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75BDA"/>
                </a:solidFill>
                <a:latin typeface="Arial"/>
                <a:ea typeface="Arial"/>
                <a:cs typeface="Arial"/>
              </a:defRPr>
            </a:pPr>
            <a:r>
              <a:rPr sz="2175" b="1">
                <a:solidFill>
                  <a:srgbClr val="075BDA"/>
                </a:solidFill>
                <a:latin typeface="Arial"/>
                <a:ea typeface="Arial"/>
                <a:cs typeface="Arial"/>
              </a:rPr>
              <a:t>Native refusal: tecINSUFFICIENT_FUNDS</a:t>
            </a:r>
          </a:p>
        </p:txBody>
      </p:sp>
      <p:sp>
        <p:nvSpPr>
          <p:cNvPr id="10" name="">
            <a:extLst xmlns:a="http://schemas.openxmlformats.org/drawingml/2006/main">
              <a:ext uri="{FF2B5EF4-FFF2-40B4-BE49-F238E27FC236}">
                <a16:creationId xmlns:a16="http://schemas.microsoft.com/office/drawing/2014/main" id="{2E6048DE-B0D9-478D-8AD8-A6D7BEEBBA01}"/>
              </a:ext>
            </a:extLst>
          </p:cNvPr>
          <p:cNvSpPr>
            <a:spLocks xmlns:a="http://schemas.openxmlformats.org/drawingml/2006/main" noGrp="1"/>
          </p:cNvSpPr>
          <p:nvPr/>
        </p:nvSpPr>
        <p:spPr>
          <a:xfrm xmlns:a="http://schemas.openxmlformats.org/drawingml/2006/main">
            <a:off x="609600" y="61531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862"/>
                </a:solidFill>
                <a:latin typeface="Arial"/>
                <a:ea typeface="Arial"/>
                <a:cs typeface="Arial"/>
              </a:defRPr>
            </a:pPr>
            <a:r>
              <a:rPr sz="1725" b="0">
                <a:solidFill>
                  <a:srgbClr val="526862"/>
                </a:solidFill>
                <a:latin typeface="Arial"/>
                <a:ea typeface="Arial"/>
                <a:cs typeface="Arial"/>
              </a:rPr>
              <a:t>Completed test-network evidence. A fresh matched run remains pending.</a:t>
            </a:r>
          </a:p>
        </p:txBody>
      </p:sp>
    </p:spTree>
    <p:extLst>
      <p:ext uri="{BB962C8B-B14F-4D97-AF65-F5344CB8AC3E}">
        <p14:creationId xmlns:p14="http://schemas.microsoft.com/office/powerpoint/2010/main" val="784955837"/>
      </p:ext>
    </p:extLst>
  </p:cSld>
</p:sld>
</file>

<file path=ppt/slides/slide6.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5ADDD54-2DC1-4C27-8C55-12425B0C4514}"/>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1E61DA70-172D-4DD9-A713-1A27D76D3F33}"/>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6F0A48FB-262B-483D-A003-D8171FC660F7}"/>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AI prepares. People commit.</a:t>
            </a:r>
          </a:p>
        </p:txBody>
      </p:sp>
      <p:sp>
        <p:nvSpPr>
          <p:cNvPr id="4" name="">
            <a:extLst xmlns:a="http://schemas.openxmlformats.org/drawingml/2006/main">
              <a:ext uri="{FF2B5EF4-FFF2-40B4-BE49-F238E27FC236}">
                <a16:creationId xmlns:a16="http://schemas.microsoft.com/office/drawing/2014/main" id="{38B527BC-F2A7-4577-B0FB-9B3B9D1FCFC7}"/>
              </a:ext>
            </a:extLst>
          </p:cNvPr>
          <p:cNvSpPr>
            <a:spLocks xmlns:a="http://schemas.openxmlformats.org/drawingml/2006/main" noGrp="1"/>
          </p:cNvSpPr>
          <p:nvPr/>
        </p:nvSpPr>
        <p:spPr>
          <a:xfrm xmlns:a="http://schemas.openxmlformats.org/drawingml/2006/main">
            <a:off x="609600" y="2266950"/>
            <a:ext cx="10858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25765D"/>
                </a:solidFill>
                <a:latin typeface="Arial"/>
                <a:ea typeface="Arial"/>
                <a:cs typeface="Arial"/>
              </a:defRPr>
            </a:pPr>
            <a:r>
              <a:rPr sz="3975" b="1">
                <a:solidFill>
                  <a:srgbClr val="25765D"/>
                </a:solidFill>
                <a:latin typeface="Arial"/>
                <a:ea typeface="Arial"/>
                <a:cs typeface="Arial"/>
              </a:rPr>
              <a:t>A small fingerprint can bind</a:t>
            </a:r>
          </a:p>
          <a:p xmlns:a="http://schemas.openxmlformats.org/drawingml/2006/main">
            <a:pPr>
              <a:defRPr sz="3975" b="1">
                <a:solidFill>
                  <a:srgbClr val="25765D"/>
                </a:solidFill>
                <a:latin typeface="Arial"/>
                <a:ea typeface="Arial"/>
                <a:cs typeface="Arial"/>
              </a:defRPr>
            </a:pPr>
            <a:r>
              <a:rPr sz="3975" b="1">
                <a:solidFill>
                  <a:srgbClr val="25765D"/>
                </a:solidFill>
                <a:latin typeface="Arial"/>
                <a:ea typeface="Arial"/>
                <a:cs typeface="Arial"/>
              </a:rPr>
              <a:t>a large private agreement.</a:t>
            </a:r>
          </a:p>
        </p:txBody>
      </p:sp>
      <p:sp>
        <p:nvSpPr>
          <p:cNvPr id="5" name="">
            <a:extLst xmlns:a="http://schemas.openxmlformats.org/drawingml/2006/main">
              <a:ext uri="{FF2B5EF4-FFF2-40B4-BE49-F238E27FC236}">
                <a16:creationId xmlns:a16="http://schemas.microsoft.com/office/drawing/2014/main" id="{31290E50-7FF8-4A42-B4A5-800DA2BD4E3A}"/>
              </a:ext>
            </a:extLst>
          </p:cNvPr>
          <p:cNvSpPr>
            <a:spLocks xmlns:a="http://schemas.openxmlformats.org/drawingml/2006/main" noGrp="1"/>
          </p:cNvSpPr>
          <p:nvPr/>
        </p:nvSpPr>
        <p:spPr>
          <a:xfrm xmlns:a="http://schemas.openxmlformats.org/drawingml/2006/main">
            <a:off x="609600" y="4448175"/>
            <a:ext cx="10858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Agents exchange structured requests.</a:t>
            </a:r>
          </a:p>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Humans approve exact terms.</a:t>
            </a:r>
          </a:p>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The broker checks proof before signing.</a:t>
            </a:r>
          </a:p>
        </p:txBody>
      </p:sp>
      <p:sp>
        <p:nvSpPr>
          <p:cNvPr id="6" name="">
            <a:extLst xmlns:a="http://schemas.openxmlformats.org/drawingml/2006/main">
              <a:ext uri="{FF2B5EF4-FFF2-40B4-BE49-F238E27FC236}">
                <a16:creationId xmlns:a16="http://schemas.microsoft.com/office/drawing/2014/main" id="{9CD8A685-1E8A-43C4-B165-456029A989D3}"/>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Local content checks, authority verification and XRPL confirmation stay distinct.</a:t>
            </a:r>
          </a:p>
        </p:txBody>
      </p:sp>
    </p:spTree>
    <p:extLst>
      <p:ext uri="{BB962C8B-B14F-4D97-AF65-F5344CB8AC3E}">
        <p14:creationId xmlns:p14="http://schemas.microsoft.com/office/powerpoint/2010/main" val="1173385675"/>
      </p:ext>
    </p:extLst>
  </p:cSld>
</p:sld>
</file>

<file path=ppt/slides/slide7.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5AB028E-8AED-4151-B936-318F88A6A4C8}"/>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66F641A8-ABD9-41BC-A266-55EA65FFD9CC}"/>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DE49AD08-09A7-41FE-B457-FEEA412467F4}"/>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Three findings. Three concrete fixes.</a:t>
            </a:r>
          </a:p>
        </p:txBody>
      </p:sp>
      <p:sp>
        <p:nvSpPr>
          <p:cNvPr id="4" name="">
            <a:extLst xmlns:a="http://schemas.openxmlformats.org/drawingml/2006/main">
              <a:ext uri="{FF2B5EF4-FFF2-40B4-BE49-F238E27FC236}">
                <a16:creationId xmlns:a16="http://schemas.microsoft.com/office/drawing/2014/main" id="{E5F81F74-A146-4B94-BA92-B5290A7A8252}"/>
              </a:ext>
            </a:extLst>
          </p:cNvPr>
          <p:cNvSpPr>
            <a:spLocks xmlns:a="http://schemas.openxmlformats.org/drawingml/2006/main" noGrp="1"/>
          </p:cNvSpPr>
          <p:nvPr/>
        </p:nvSpPr>
        <p:spPr>
          <a:xfrm xmlns:a="http://schemas.openxmlformats.org/drawingml/2006/main">
            <a:off x="609600" y="201930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862"/>
                </a:solidFill>
                <a:latin typeface="Arial"/>
                <a:ea typeface="Arial"/>
                <a:cs typeface="Arial"/>
              </a:defRPr>
            </a:pPr>
            <a:r>
              <a:rPr sz="2025" b="0">
                <a:solidFill>
                  <a:srgbClr val="526862"/>
                </a:solidFill>
                <a:latin typeface="Arial"/>
                <a:ea typeface="Arial"/>
                <a:cs typeface="Arial"/>
              </a:rPr>
              <a:t>What blocked us. What would help the next team.</a:t>
            </a:r>
          </a:p>
        </p:txBody>
      </p:sp>
      <p:sp>
        <p:nvSpPr>
          <p:cNvPr id="5" name="">
            <a:extLst xmlns:a="http://schemas.openxmlformats.org/drawingml/2006/main">
              <a:ext uri="{FF2B5EF4-FFF2-40B4-BE49-F238E27FC236}">
                <a16:creationId xmlns:a16="http://schemas.microsoft.com/office/drawing/2014/main" id="{8679C675-12FB-413B-B680-DA7AF20C4D9F}"/>
              </a:ext>
            </a:extLst>
          </p:cNvPr>
          <p:cNvSpPr>
            <a:spLocks xmlns:a="http://schemas.openxmlformats.org/drawingml/2006/main" noGrp="1"/>
          </p:cNvSpPr>
          <p:nvPr/>
        </p:nvSpPr>
        <p:spPr>
          <a:xfrm xmlns:a="http://schemas.openxmlformats.org/drawingml/2006/main">
            <a:off x="609600" y="260985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1. Websites worked. The ledger connection timed out.</a:t>
            </a:r>
          </a:p>
        </p:txBody>
      </p:sp>
      <p:sp>
        <p:nvSpPr>
          <p:cNvPr id="6" name="">
            <a:extLst xmlns:a="http://schemas.openxmlformats.org/drawingml/2006/main">
              <a:ext uri="{FF2B5EF4-FFF2-40B4-BE49-F238E27FC236}">
                <a16:creationId xmlns:a16="http://schemas.microsoft.com/office/drawing/2014/main" id="{1E412C8C-C137-402F-95CB-8E07ABD96F3E}"/>
              </a:ext>
            </a:extLst>
          </p:cNvPr>
          <p:cNvSpPr>
            <a:spLocks xmlns:a="http://schemas.openxmlformats.org/drawingml/2006/main" noGrp="1"/>
          </p:cNvSpPr>
          <p:nvPr/>
        </p:nvSpPr>
        <p:spPr>
          <a:xfrm xmlns:a="http://schemas.openxmlformats.org/drawingml/2006/main">
            <a:off x="609600" y="300037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5765D"/>
                </a:solidFill>
                <a:latin typeface="Arial"/>
                <a:ea typeface="Arial"/>
                <a:cs typeface="Arial"/>
              </a:defRPr>
            </a:pPr>
            <a:r>
              <a:rPr sz="1875" b="0">
                <a:solidFill>
                  <a:srgbClr val="25765D"/>
                </a:solidFill>
                <a:latin typeface="Arial"/>
                <a:ea typeface="Arial"/>
                <a:cs typeface="Arial"/>
              </a:rPr>
              <a:t>Provide a connection check + a tested endpoint on standard port 443.</a:t>
            </a:r>
          </a:p>
        </p:txBody>
      </p:sp>
      <p:sp>
        <p:nvSpPr>
          <p:cNvPr id="7" name="">
            <a:extLst xmlns:a="http://schemas.openxmlformats.org/drawingml/2006/main">
              <a:ext uri="{FF2B5EF4-FFF2-40B4-BE49-F238E27FC236}">
                <a16:creationId xmlns:a16="http://schemas.microsoft.com/office/drawing/2014/main" id="{FCC9D099-1AAA-4550-8F09-2CA9F6151CB2}"/>
              </a:ext>
            </a:extLst>
          </p:cNvPr>
          <p:cNvSpPr>
            <a:spLocks xmlns:a="http://schemas.openxmlformats.org/drawingml/2006/main" noGrp="1"/>
          </p:cNvSpPr>
          <p:nvPr/>
        </p:nvSpPr>
        <p:spPr>
          <a:xfrm xmlns:a="http://schemas.openxmlformats.org/drawingml/2006/main">
            <a:off x="609600" y="336232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862"/>
                </a:solidFill>
                <a:latin typeface="Arial"/>
                <a:ea typeface="Arial"/>
                <a:cs typeface="Arial"/>
              </a:defRPr>
            </a:pPr>
            <a:r>
              <a:rPr sz="1725" b="0">
                <a:solidFill>
                  <a:srgbClr val="526862"/>
                </a:solidFill>
                <a:latin typeface="Arial"/>
                <a:ea typeface="Arial"/>
                <a:cs typeface="Arial"/>
              </a:rPr>
              <a:t>Why: spot blocked access before teams waste time debugging their code.</a:t>
            </a:r>
          </a:p>
        </p:txBody>
      </p:sp>
      <p:sp>
        <p:nvSpPr>
          <p:cNvPr id="8" name="">
            <a:extLst xmlns:a="http://schemas.openxmlformats.org/drawingml/2006/main">
              <a:ext uri="{FF2B5EF4-FFF2-40B4-BE49-F238E27FC236}">
                <a16:creationId xmlns:a16="http://schemas.microsoft.com/office/drawing/2014/main" id="{F5AEA48F-5A97-4912-B79F-DD59D138DCC8}"/>
              </a:ext>
            </a:extLst>
          </p:cNvPr>
          <p:cNvSpPr>
            <a:spLocks xmlns:a="http://schemas.openxmlformats.org/drawingml/2006/main" noGrp="1"/>
          </p:cNvSpPr>
          <p:nvPr/>
        </p:nvSpPr>
        <p:spPr>
          <a:xfrm xmlns:a="http://schemas.openxmlformats.org/drawingml/2006/main">
            <a:off x="609600" y="385762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2. The guide, network and SDK versions did not line up.</a:t>
            </a:r>
          </a:p>
        </p:txBody>
      </p:sp>
      <p:sp>
        <p:nvSpPr>
          <p:cNvPr id="9" name="">
            <a:extLst xmlns:a="http://schemas.openxmlformats.org/drawingml/2006/main">
              <a:ext uri="{FF2B5EF4-FFF2-40B4-BE49-F238E27FC236}">
                <a16:creationId xmlns:a16="http://schemas.microsoft.com/office/drawing/2014/main" id="{FFBA1FEF-E756-4BC4-A058-C1678613AC79}"/>
              </a:ext>
            </a:extLst>
          </p:cNvPr>
          <p:cNvSpPr>
            <a:spLocks xmlns:a="http://schemas.openxmlformats.org/drawingml/2006/main" noGrp="1"/>
          </p:cNvSpPr>
          <p:nvPr/>
        </p:nvSpPr>
        <p:spPr>
          <a:xfrm xmlns:a="http://schemas.openxmlformats.org/drawingml/2006/main">
            <a:off x="609600" y="424815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5765D"/>
                </a:solidFill>
                <a:latin typeface="Arial"/>
                <a:ea typeface="Arial"/>
                <a:cs typeface="Arial"/>
              </a:defRPr>
            </a:pPr>
            <a:r>
              <a:rPr sz="1875" b="0">
                <a:solidFill>
                  <a:srgbClr val="25765D"/>
                </a:solidFill>
                <a:latin typeface="Arial"/>
                <a:ea typeface="Arial"/>
                <a:cs typeface="Arial"/>
              </a:rPr>
              <a:t>Publish one dated setup: endpoint, enabled features and exact SDK.</a:t>
            </a:r>
          </a:p>
        </p:txBody>
      </p:sp>
      <p:sp>
        <p:nvSpPr>
          <p:cNvPr id="10" name="">
            <a:extLst xmlns:a="http://schemas.openxmlformats.org/drawingml/2006/main">
              <a:ext uri="{FF2B5EF4-FFF2-40B4-BE49-F238E27FC236}">
                <a16:creationId xmlns:a16="http://schemas.microsoft.com/office/drawing/2014/main" id="{6CC4ACE5-3111-4425-89DA-9BF55854C7E3}"/>
              </a:ext>
            </a:extLst>
          </p:cNvPr>
          <p:cNvSpPr>
            <a:spLocks xmlns:a="http://schemas.openxmlformats.org/drawingml/2006/main" noGrp="1"/>
          </p:cNvSpPr>
          <p:nvPr/>
        </p:nvSpPr>
        <p:spPr>
          <a:xfrm xmlns:a="http://schemas.openxmlformats.org/drawingml/2006/main">
            <a:off x="609600" y="461010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862"/>
                </a:solidFill>
                <a:latin typeface="Arial"/>
                <a:ea typeface="Arial"/>
                <a:cs typeface="Arial"/>
              </a:defRPr>
            </a:pPr>
            <a:r>
              <a:rPr sz="1725" b="0">
                <a:solidFill>
                  <a:srgbClr val="526862"/>
                </a:solidFill>
                <a:latin typeface="Arial"/>
                <a:ea typeface="Arial"/>
                <a:cs typeface="Arial"/>
              </a:rPr>
              <a:t>Why: teams need to know which loan rules the network actually accepts.</a:t>
            </a:r>
          </a:p>
        </p:txBody>
      </p:sp>
      <p:sp>
        <p:nvSpPr>
          <p:cNvPr id="11" name="">
            <a:extLst xmlns:a="http://schemas.openxmlformats.org/drawingml/2006/main">
              <a:ext uri="{FF2B5EF4-FFF2-40B4-BE49-F238E27FC236}">
                <a16:creationId xmlns:a16="http://schemas.microsoft.com/office/drawing/2014/main" id="{8BC56B33-C611-43A7-8B5F-C8DACB39897D}"/>
              </a:ext>
            </a:extLst>
          </p:cNvPr>
          <p:cNvSpPr>
            <a:spLocks xmlns:a="http://schemas.openxmlformats.org/drawingml/2006/main" noGrp="1"/>
          </p:cNvSpPr>
          <p:nvPr/>
        </p:nvSpPr>
        <p:spPr>
          <a:xfrm xmlns:a="http://schemas.openxmlformats.org/drawingml/2006/main">
            <a:off x="609600" y="510540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3. Our app built successfully, but its hosted API crashed.</a:t>
            </a:r>
          </a:p>
        </p:txBody>
      </p:sp>
      <p:sp>
        <p:nvSpPr>
          <p:cNvPr id="12" name="">
            <a:extLst xmlns:a="http://schemas.openxmlformats.org/drawingml/2006/main">
              <a:ext uri="{FF2B5EF4-FFF2-40B4-BE49-F238E27FC236}">
                <a16:creationId xmlns:a16="http://schemas.microsoft.com/office/drawing/2014/main" id="{17C5268D-CCCF-4C96-B79F-82E37CABC961}"/>
              </a:ext>
            </a:extLst>
          </p:cNvPr>
          <p:cNvSpPr>
            <a:spLocks xmlns:a="http://schemas.openxmlformats.org/drawingml/2006/main" noGrp="1"/>
          </p:cNvSpPr>
          <p:nvPr/>
        </p:nvSpPr>
        <p:spPr>
          <a:xfrm xmlns:a="http://schemas.openxmlformats.org/drawingml/2006/main">
            <a:off x="609600" y="54959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5765D"/>
                </a:solidFill>
                <a:latin typeface="Arial"/>
                <a:ea typeface="Arial"/>
                <a:cs typeface="Arial"/>
              </a:defRPr>
            </a:pPr>
            <a:r>
              <a:rPr sz="1875" b="0">
                <a:solidFill>
                  <a:srgbClr val="25765D"/>
                </a:solidFill>
                <a:latin typeface="Arial"/>
                <a:ea typeface="Arial"/>
                <a:cs typeface="Arial"/>
              </a:rPr>
              <a:t>Add a deployable starter + a test that boots its API before release.</a:t>
            </a:r>
          </a:p>
        </p:txBody>
      </p:sp>
      <p:sp>
        <p:nvSpPr>
          <p:cNvPr id="13" name="">
            <a:extLst xmlns:a="http://schemas.openxmlformats.org/drawingml/2006/main">
              <a:ext uri="{FF2B5EF4-FFF2-40B4-BE49-F238E27FC236}">
                <a16:creationId xmlns:a16="http://schemas.microsoft.com/office/drawing/2014/main" id="{810854BF-F754-4AF5-AC51-67AF1EB1CE62}"/>
              </a:ext>
            </a:extLst>
          </p:cNvPr>
          <p:cNvSpPr>
            <a:spLocks xmlns:a="http://schemas.openxmlformats.org/drawingml/2006/main" noGrp="1"/>
          </p:cNvSpPr>
          <p:nvPr/>
        </p:nvSpPr>
        <p:spPr>
          <a:xfrm xmlns:a="http://schemas.openxmlformats.org/drawingml/2006/main">
            <a:off x="609600" y="585787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862"/>
                </a:solidFill>
                <a:latin typeface="Arial"/>
                <a:ea typeface="Arial"/>
                <a:cs typeface="Arial"/>
              </a:defRPr>
            </a:pPr>
            <a:r>
              <a:rPr sz="1725" b="0">
                <a:solidFill>
                  <a:srgbClr val="526862"/>
                </a:solidFill>
                <a:latin typeface="Arial"/>
                <a:ea typeface="Arial"/>
                <a:cs typeface="Arial"/>
              </a:rPr>
              <a:t>Why: a successful build does not prove the API can run online.</a:t>
            </a:r>
          </a:p>
        </p:txBody>
      </p:sp>
      <p:sp>
        <p:nvSpPr>
          <p:cNvPr id="14" name="">
            <a:extLst xmlns:a="http://schemas.openxmlformats.org/drawingml/2006/main">
              <a:ext uri="{FF2B5EF4-FFF2-40B4-BE49-F238E27FC236}">
                <a16:creationId xmlns:a16="http://schemas.microsoft.com/office/drawing/2014/main" id="{998E7883-ACF1-4331-B7E3-8E19EBF1320B}"/>
              </a:ext>
            </a:extLst>
          </p:cNvPr>
          <p:cNvSpPr>
            <a:spLocks xmlns:a="http://schemas.openxmlformats.org/drawingml/2006/main" noGrp="1"/>
          </p:cNvSpPr>
          <p:nvPr/>
        </p:nvSpPr>
        <p:spPr>
          <a:xfrm xmlns:a="http://schemas.openxmlformats.org/drawingml/2006/main">
            <a:off x="609600" y="641032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Proposals for organisers. Hotspot recovery and our API fix were tested.</a:t>
            </a:r>
          </a:p>
        </p:txBody>
      </p:sp>
    </p:spTree>
    <p:extLst>
      <p:ext uri="{BB962C8B-B14F-4D97-AF65-F5344CB8AC3E}">
        <p14:creationId xmlns:p14="http://schemas.microsoft.com/office/powerpoint/2010/main" val="1838931980"/>
      </p:ext>
    </p:extLst>
  </p:cSld>
</p:sld>
</file>

<file path=ppt/slides/slide8.xml><?xml version="1.0" encoding="utf-8"?>
<p:sld xmlns:p="http://schemas.openxmlformats.org/presentationml/2006/main">
  <p:cSld>
    <p:bg>
      <p:bgPr>
        <a:solidFill xmlns:a="http://schemas.openxmlformats.org/drawingml/2006/main">
          <a:srgbClr val="123C3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954105B-372A-4C4A-8DF2-64CB247A8BD0}"/>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B527E732-B24A-4306-97F8-FEC18815861B}"/>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CD5C7"/>
                </a:solidFill>
                <a:latin typeface="Arial"/>
                <a:ea typeface="Arial"/>
                <a:cs typeface="Arial"/>
              </a:defRPr>
            </a:pPr>
            <a:r>
              <a:rPr sz="1500" b="0">
                <a:solidFill>
                  <a:srgbClr val="ACD5C7"/>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2781BF29-8585-4AF5-B197-11FCFEA8E039}"/>
              </a:ext>
            </a:extLst>
          </p:cNvPr>
          <p:cNvSpPr>
            <a:spLocks xmlns:a="http://schemas.openxmlformats.org/drawingml/2006/main" noGrp="1"/>
          </p:cNvSpPr>
          <p:nvPr/>
        </p:nvSpPr>
        <p:spPr>
          <a:xfrm xmlns:a="http://schemas.openxmlformats.org/drawingml/2006/main">
            <a:off x="609600" y="1724025"/>
            <a:ext cx="10953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A reusable evidence adapter</a:t>
            </a:r>
          </a:p>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for native lending.</a:t>
            </a:r>
          </a:p>
        </p:txBody>
      </p:sp>
      <p:sp>
        <p:nvSpPr>
          <p:cNvPr id="4" name="">
            <a:extLst xmlns:a="http://schemas.openxmlformats.org/drawingml/2006/main">
              <a:ext uri="{FF2B5EF4-FFF2-40B4-BE49-F238E27FC236}">
                <a16:creationId xmlns:a16="http://schemas.microsoft.com/office/drawing/2014/main" id="{0F39F3A2-1E95-4421-AA2F-4BBFA7602E7A}"/>
              </a:ext>
            </a:extLst>
          </p:cNvPr>
          <p:cNvSpPr>
            <a:spLocks xmlns:a="http://schemas.openxmlformats.org/drawingml/2006/main" noGrp="1"/>
          </p:cNvSpPr>
          <p:nvPr/>
        </p:nvSpPr>
        <p:spPr>
          <a:xfrm xmlns:a="http://schemas.openxmlformats.org/drawingml/2006/main">
            <a:off x="609600" y="4010025"/>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0">
                <a:solidFill>
                  <a:srgbClr val="ADE0C8"/>
                </a:solidFill>
                <a:latin typeface="Arial"/>
                <a:ea typeface="Arial"/>
                <a:cs typeface="Arial"/>
              </a:defRPr>
            </a:pPr>
            <a:r>
              <a:rPr sz="2925" b="0">
                <a:solidFill>
                  <a:srgbClr val="ADE0C8"/>
                </a:solidFill>
                <a:latin typeface="Arial"/>
                <a:ea typeface="Arial"/>
                <a:cs typeface="Arial"/>
              </a:rPr>
              <a:t>XRPL settles the loan.</a:t>
            </a:r>
          </a:p>
          <a:p xmlns:a="http://schemas.openxmlformats.org/drawingml/2006/main">
            <a:pPr>
              <a:defRPr sz="2925" b="0">
                <a:solidFill>
                  <a:srgbClr val="ADE0C8"/>
                </a:solidFill>
                <a:latin typeface="Arial"/>
                <a:ea typeface="Arial"/>
                <a:cs typeface="Arial"/>
              </a:defRPr>
            </a:pPr>
            <a:r>
              <a:rPr sz="2925" b="0">
                <a:solidFill>
                  <a:srgbClr val="ADE0C8"/>
                </a:solidFill>
                <a:latin typeface="Arial"/>
                <a:ea typeface="Arial"/>
                <a:cs typeface="Arial"/>
              </a:rPr>
              <a:t>Recognitium preserves the commitment.</a:t>
            </a:r>
          </a:p>
        </p:txBody>
      </p:sp>
      <p:sp>
        <p:nvSpPr>
          <p:cNvPr id="5" name="">
            <a:extLst xmlns:a="http://schemas.openxmlformats.org/drawingml/2006/main">
              <a:ext uri="{FF2B5EF4-FFF2-40B4-BE49-F238E27FC236}">
                <a16:creationId xmlns:a16="http://schemas.microsoft.com/office/drawing/2014/main" id="{625DE573-4061-49B4-8ABB-2DC69BD95E68}"/>
              </a:ext>
            </a:extLst>
          </p:cNvPr>
          <p:cNvSpPr>
            <a:spLocks xmlns:a="http://schemas.openxmlformats.org/drawingml/2006/main" noGrp="1"/>
          </p:cNvSpPr>
          <p:nvPr/>
        </p:nvSpPr>
        <p:spPr>
          <a:xfrm xmlns:a="http://schemas.openxmlformats.org/drawingml/2006/main">
            <a:off x="609600" y="562927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Next proof: one fresh matched cycle through the same interface.</a:t>
            </a:r>
          </a:p>
        </p:txBody>
      </p:sp>
      <p:sp>
        <p:nvSpPr>
          <p:cNvPr id="6" name="">
            <a:extLst xmlns:a="http://schemas.openxmlformats.org/drawingml/2006/main">
              <a:ext uri="{FF2B5EF4-FFF2-40B4-BE49-F238E27FC236}">
                <a16:creationId xmlns:a16="http://schemas.microsoft.com/office/drawing/2014/main" id="{4DB4833F-1D63-450A-B9C1-55FC468371E9}"/>
              </a:ext>
            </a:extLst>
          </p:cNvPr>
          <p:cNvSpPr>
            <a:spLocks xmlns:a="http://schemas.openxmlformats.org/drawingml/2006/main" noGrp="1"/>
          </p:cNvSpPr>
          <p:nvPr/>
        </p:nvSpPr>
        <p:spPr>
          <a:xfrm xmlns:a="http://schemas.openxmlformats.org/drawingml/2006/main">
            <a:off x="609600" y="62865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D1E6DD"/>
                </a:solidFill>
                <a:latin typeface="Arial"/>
                <a:ea typeface="Arial"/>
                <a:cs typeface="Arial"/>
              </a:defRPr>
            </a:pPr>
            <a:r>
              <a:rPr sz="1575" b="0">
                <a:solidFill>
                  <a:srgbClr val="D1E6DD"/>
                </a:solidFill>
                <a:latin typeface="Arial"/>
                <a:ea typeface="Arial"/>
                <a:cs typeface="Arial"/>
              </a:rPr>
              <a:t>Public code: github.com/jninom8/recognitium-xrpl-hackathon</a:t>
            </a:r>
          </a:p>
        </p:txBody>
      </p:sp>
    </p:spTree>
    <p:extLst>
      <p:ext uri="{BB962C8B-B14F-4D97-AF65-F5344CB8AC3E}">
        <p14:creationId xmlns:p14="http://schemas.microsoft.com/office/powerpoint/2010/main" val="2001407933"/>
      </p:ext>
    </p:extLst>
  </p:cSld>
</p:sld>
</file>

<file path=ppt/slides/slide9.xml><?xml version="1.0" encoding="utf-8"?>
<p:sld xmlns:p="http://schemas.openxmlformats.org/presentationml/2006/main">
  <p:cSld>
    <p:bg>
      <p:bgPr>
        <a:solidFill xmlns:a="http://schemas.openxmlformats.org/drawingml/2006/main">
          <a:srgbClr val="123C3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3FD3AC7-9371-407E-B4BA-5B1CF184E646}"/>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60827819-8D39-41DC-8916-CD250605DBF5}"/>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CD5C7"/>
                </a:solidFill>
                <a:latin typeface="Arial"/>
                <a:ea typeface="Arial"/>
                <a:cs typeface="Arial"/>
              </a:defRPr>
            </a:pPr>
            <a:r>
              <a:rPr sz="1500" b="0">
                <a:solidFill>
                  <a:srgbClr val="ACD5C7"/>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112B3535-CE2B-4978-958E-E87CB3F94297}"/>
              </a:ext>
            </a:extLst>
          </p:cNvPr>
          <p:cNvSpPr>
            <a:spLocks xmlns:a="http://schemas.openxmlformats.org/drawingml/2006/main" noGrp="1"/>
          </p:cNvSpPr>
          <p:nvPr/>
        </p:nvSpPr>
        <p:spPr>
          <a:xfrm xmlns:a="http://schemas.openxmlformats.org/drawingml/2006/main">
            <a:off x="609600" y="128587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75" b="1">
                <a:solidFill>
                  <a:srgbClr val="FFFFFF"/>
                </a:solidFill>
                <a:latin typeface="Arial"/>
                <a:ea typeface="Arial"/>
                <a:cs typeface="Arial"/>
              </a:defRPr>
            </a:pPr>
            <a:r>
              <a:rPr sz="4575" b="1">
                <a:solidFill>
                  <a:srgbClr val="FFFFFF"/>
                </a:solidFill>
                <a:latin typeface="Arial"/>
                <a:ea typeface="Arial"/>
                <a:cs typeface="Arial"/>
              </a:rPr>
              <a:t>“Money is Memory”</a:t>
            </a:r>
          </a:p>
        </p:txBody>
      </p:sp>
      <p:sp>
        <p:nvSpPr>
          <p:cNvPr id="4" name="">
            <a:extLst xmlns:a="http://schemas.openxmlformats.org/drawingml/2006/main">
              <a:ext uri="{FF2B5EF4-FFF2-40B4-BE49-F238E27FC236}">
                <a16:creationId xmlns:a16="http://schemas.microsoft.com/office/drawing/2014/main" id="{4BF96908-88E1-459D-85F3-F904E9D446D9}"/>
              </a:ext>
            </a:extLst>
          </p:cNvPr>
          <p:cNvSpPr>
            <a:spLocks xmlns:a="http://schemas.openxmlformats.org/drawingml/2006/main" noGrp="1"/>
          </p:cNvSpPr>
          <p:nvPr/>
        </p:nvSpPr>
        <p:spPr>
          <a:xfrm xmlns:a="http://schemas.openxmlformats.org/drawingml/2006/main">
            <a:off x="609600" y="231457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ADE0C8"/>
                </a:solidFill>
                <a:latin typeface="Arial"/>
                <a:ea typeface="Arial"/>
                <a:cs typeface="Arial"/>
              </a:defRPr>
            </a:pPr>
            <a:r>
              <a:rPr sz="2850" b="1">
                <a:solidFill>
                  <a:srgbClr val="ADE0C8"/>
                </a:solidFill>
                <a:latin typeface="Arial"/>
                <a:ea typeface="Arial"/>
                <a:cs typeface="Arial"/>
              </a:rPr>
              <a:t>The agreement behind it is memory, too.</a:t>
            </a:r>
          </a:p>
        </p:txBody>
      </p:sp>
      <p:sp>
        <p:nvSpPr>
          <p:cNvPr id="5" name="">
            <a:extLst xmlns:a="http://schemas.openxmlformats.org/drawingml/2006/main">
              <a:ext uri="{FF2B5EF4-FFF2-40B4-BE49-F238E27FC236}">
                <a16:creationId xmlns:a16="http://schemas.microsoft.com/office/drawing/2014/main" id="{624CEEB4-5448-486E-8E9D-FAA2E64599F4}"/>
              </a:ext>
            </a:extLst>
          </p:cNvPr>
          <p:cNvSpPr>
            <a:spLocks xmlns:a="http://schemas.openxmlformats.org/drawingml/2006/main" noGrp="1"/>
          </p:cNvSpPr>
          <p:nvPr/>
        </p:nvSpPr>
        <p:spPr>
          <a:xfrm xmlns:a="http://schemas.openxmlformats.org/drawingml/2006/main">
            <a:off x="609600" y="3333750"/>
            <a:ext cx="1095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FFFFFF"/>
                </a:solidFill>
                <a:latin typeface="Arial"/>
                <a:ea typeface="Arial"/>
                <a:cs typeface="Arial"/>
              </a:defRPr>
            </a:pPr>
            <a:r>
              <a:rPr sz="2700" b="0">
                <a:solidFill>
                  <a:srgbClr val="FFFFFF"/>
                </a:solidFill>
                <a:latin typeface="Arial"/>
                <a:ea typeface="Arial"/>
                <a:cs typeface="Arial"/>
              </a:rPr>
              <a:t>The agreement should remain private.</a:t>
            </a:r>
          </a:p>
          <a:p xmlns:a="http://schemas.openxmlformats.org/drawingml/2006/main">
            <a:pPr>
              <a:defRPr sz="2700" b="0">
                <a:solidFill>
                  <a:srgbClr val="FFFFFF"/>
                </a:solidFill>
                <a:latin typeface="Arial"/>
                <a:ea typeface="Arial"/>
                <a:cs typeface="Arial"/>
              </a:defRPr>
            </a:pPr>
            <a:r>
              <a:rPr sz="2700" b="0">
                <a:solidFill>
                  <a:srgbClr val="FFFFFF"/>
                </a:solidFill>
                <a:latin typeface="Arial"/>
                <a:ea typeface="Arial"/>
                <a:cs typeface="Arial"/>
              </a:rPr>
              <a:t>Its commitment should remain verifiable.</a:t>
            </a:r>
          </a:p>
        </p:txBody>
      </p:sp>
      <p:sp>
        <p:nvSpPr>
          <p:cNvPr id="6" name="">
            <a:extLst xmlns:a="http://schemas.openxmlformats.org/drawingml/2006/main">
              <a:ext uri="{FF2B5EF4-FFF2-40B4-BE49-F238E27FC236}">
                <a16:creationId xmlns:a16="http://schemas.microsoft.com/office/drawing/2014/main" id="{AE468FBC-DA52-4843-BD27-23D1D6282171}"/>
              </a:ext>
            </a:extLst>
          </p:cNvPr>
          <p:cNvSpPr>
            <a:spLocks xmlns:a="http://schemas.openxmlformats.org/drawingml/2006/main" noGrp="1"/>
          </p:cNvSpPr>
          <p:nvPr/>
        </p:nvSpPr>
        <p:spPr>
          <a:xfrm xmlns:a="http://schemas.openxmlformats.org/drawingml/2006/main">
            <a:off x="609600" y="4352925"/>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ADE0C8"/>
                </a:solidFill>
                <a:latin typeface="Arial"/>
                <a:ea typeface="Arial"/>
                <a:cs typeface="Arial"/>
              </a:defRPr>
            </a:pPr>
            <a:r>
              <a:rPr sz="2175" b="0">
                <a:solidFill>
                  <a:srgbClr val="ADE0C8"/>
                </a:solidFill>
                <a:latin typeface="Arial"/>
                <a:ea typeface="Arial"/>
                <a:cs typeface="Arial"/>
              </a:rPr>
              <a:t>The evidence should remain usable</a:t>
            </a:r>
          </a:p>
          <a:p xmlns:a="http://schemas.openxmlformats.org/drawingml/2006/main">
            <a:pPr>
              <a:defRPr sz="2175" b="0">
                <a:solidFill>
                  <a:srgbClr val="ADE0C8"/>
                </a:solidFill>
                <a:latin typeface="Arial"/>
                <a:ea typeface="Arial"/>
                <a:cs typeface="Arial"/>
              </a:defRPr>
            </a:pPr>
            <a:r>
              <a:rPr sz="2175" b="0">
                <a:solidFill>
                  <a:srgbClr val="ADE0C8"/>
                </a:solidFill>
                <a:latin typeface="Arial"/>
                <a:ea typeface="Arial"/>
                <a:cs typeface="Arial"/>
              </a:rPr>
              <a:t>whichever network moves the money.</a:t>
            </a:r>
          </a:p>
        </p:txBody>
      </p:sp>
      <p:sp>
        <p:nvSpPr>
          <p:cNvPr id="7" name="">
            <a:extLst xmlns:a="http://schemas.openxmlformats.org/drawingml/2006/main">
              <a:ext uri="{FF2B5EF4-FFF2-40B4-BE49-F238E27FC236}">
                <a16:creationId xmlns:a16="http://schemas.microsoft.com/office/drawing/2014/main" id="{78D293B1-4FC4-4BA9-A99E-DC23779ECD00}"/>
              </a:ext>
            </a:extLst>
          </p:cNvPr>
          <p:cNvSpPr>
            <a:spLocks xmlns:a="http://schemas.openxmlformats.org/drawingml/2006/main" noGrp="1"/>
          </p:cNvSpPr>
          <p:nvPr/>
        </p:nvSpPr>
        <p:spPr>
          <a:xfrm xmlns:a="http://schemas.openxmlformats.org/drawingml/2006/main">
            <a:off x="609600" y="539115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Try the demo · recognitium-xrpl-hackathon.vercel.app</a:t>
            </a:r>
          </a:p>
        </p:txBody>
      </p:sp>
      <p:sp>
        <p:nvSpPr>
          <p:cNvPr id="8" name="">
            <a:extLst xmlns:a="http://schemas.openxmlformats.org/drawingml/2006/main">
              <a:ext uri="{FF2B5EF4-FFF2-40B4-BE49-F238E27FC236}">
                <a16:creationId xmlns:a16="http://schemas.microsoft.com/office/drawing/2014/main" id="{7EFB64CF-3B84-4458-9D54-A7A942CF9F44}"/>
              </a:ext>
            </a:extLst>
          </p:cNvPr>
          <p:cNvSpPr>
            <a:spLocks xmlns:a="http://schemas.openxmlformats.org/drawingml/2006/main" noGrp="1"/>
          </p:cNvSpPr>
          <p:nvPr/>
        </p:nvSpPr>
        <p:spPr>
          <a:xfrm xmlns:a="http://schemas.openxmlformats.org/drawingml/2006/main">
            <a:off x="609600" y="575310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ADE0C8"/>
                </a:solidFill>
                <a:latin typeface="Arial"/>
                <a:ea typeface="Arial"/>
                <a:cs typeface="Arial"/>
              </a:defRPr>
            </a:pPr>
            <a:r>
              <a:rPr sz="1650" b="0">
                <a:solidFill>
                  <a:srgbClr val="ADE0C8"/>
                </a:solidFill>
                <a:latin typeface="Arial"/>
                <a:ea typeface="Arial"/>
                <a:cs typeface="Arial"/>
              </a:rPr>
              <a:t>Code + setup · github.com/jninom8/recognitium-xrpl-hackathon</a:t>
            </a:r>
          </a:p>
        </p:txBody>
      </p:sp>
      <p:sp>
        <p:nvSpPr>
          <p:cNvPr id="9" name="">
            <a:extLst xmlns:a="http://schemas.openxmlformats.org/drawingml/2006/main">
              <a:ext uri="{FF2B5EF4-FFF2-40B4-BE49-F238E27FC236}">
                <a16:creationId xmlns:a16="http://schemas.microsoft.com/office/drawing/2014/main" id="{F66BEF46-3CB7-4424-AB56-DEDEA0EE93D5}"/>
              </a:ext>
            </a:extLst>
          </p:cNvPr>
          <p:cNvSpPr>
            <a:spLocks xmlns:a="http://schemas.openxmlformats.org/drawingml/2006/main" noGrp="1"/>
          </p:cNvSpPr>
          <p:nvPr/>
        </p:nvSpPr>
        <p:spPr>
          <a:xfrm xmlns:a="http://schemas.openxmlformats.org/drawingml/2006/main">
            <a:off x="609600" y="6067425"/>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Receipt ID: DG-… · Verify at www.recognitium.com/verify</a:t>
            </a:r>
          </a:p>
        </p:txBody>
      </p:sp>
      <p:sp>
        <p:nvSpPr>
          <p:cNvPr id="10" name="">
            <a:extLst xmlns:a="http://schemas.openxmlformats.org/drawingml/2006/main">
              <a:ext uri="{FF2B5EF4-FFF2-40B4-BE49-F238E27FC236}">
                <a16:creationId xmlns:a16="http://schemas.microsoft.com/office/drawing/2014/main" id="{46833D41-251C-4367-B380-B4221ACB59A6}"/>
              </a:ext>
            </a:extLst>
          </p:cNvPr>
          <p:cNvSpPr>
            <a:spLocks xmlns:a="http://schemas.openxmlformats.org/drawingml/2006/main" noGrp="1"/>
          </p:cNvSpPr>
          <p:nvPr/>
        </p:nvSpPr>
        <p:spPr>
          <a:xfrm xmlns:a="http://schemas.openxmlformats.org/drawingml/2006/main">
            <a:off x="609600" y="629602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1E6DD"/>
                </a:solidFill>
                <a:latin typeface="Arial"/>
                <a:ea typeface="Arial"/>
                <a:cs typeface="Arial"/>
              </a:defRPr>
            </a:pPr>
            <a:r>
              <a:rPr sz="1350" b="0">
                <a:solidFill>
                  <a:srgbClr val="D1E6DD"/>
                </a:solidFill>
                <a:latin typeface="Arial"/>
                <a:ea typeface="Arial"/>
                <a:cs typeface="Arial"/>
              </a:rPr>
              <a:t>Inspired by Kocherlakota · 1996 / 1998 · doi.org/10.21034/sr.218</a:t>
            </a:r>
          </a:p>
        </p:txBody>
      </p:sp>
      <p:sp>
        <p:nvSpPr>
          <p:cNvPr id="11" name="">
            <a:extLst xmlns:a="http://schemas.openxmlformats.org/drawingml/2006/main">
              <a:ext uri="{FF2B5EF4-FFF2-40B4-BE49-F238E27FC236}">
                <a16:creationId xmlns:a16="http://schemas.microsoft.com/office/drawing/2014/main" id="{9C68ED00-9038-4170-B894-66E330CA5F44}"/>
              </a:ext>
            </a:extLst>
          </p:cNvPr>
          <p:cNvSpPr>
            <a:spLocks xmlns:a="http://schemas.openxmlformats.org/drawingml/2006/main" noGrp="1"/>
          </p:cNvSpPr>
          <p:nvPr/>
        </p:nvSpPr>
        <p:spPr>
          <a:xfrm xmlns:a="http://schemas.openxmlformats.org/drawingml/2006/main">
            <a:off x="609600" y="6572250"/>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D1E6DD"/>
                </a:solidFill>
                <a:latin typeface="Arial"/>
                <a:ea typeface="Arial"/>
                <a:cs typeface="Arial"/>
              </a:defRPr>
            </a:pPr>
            <a:r>
              <a:rPr sz="1125" b="0">
                <a:solidFill>
                  <a:srgbClr val="D1E6DD"/>
                </a:solidFill>
                <a:latin typeface="Arial"/>
                <a:ea typeface="Arial"/>
                <a:cs typeface="Arial"/>
              </a:rPr>
              <a:t>Our design ambition, not a theorem about this application or a GDPR compliance claim.</a:t>
            </a:r>
          </a:p>
        </p:txBody>
      </p:sp>
    </p:spTree>
    <p:extLst>
      <p:ext uri="{BB962C8B-B14F-4D97-AF65-F5344CB8AC3E}">
        <p14:creationId xmlns:p14="http://schemas.microsoft.com/office/powerpoint/2010/main" val="1194652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2026-09-13T14:30:47.3980000Z</dcterms:created>
  <dcterms:modified xsi:type="dcterms:W3CDTF">2026-09-13T14:30:47.3980000Z</dcterms:modified>
</coreProperties>
</file>